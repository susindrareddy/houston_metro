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9dfb12ed56480f" /><Relationship Type="http://schemas.openxmlformats.org/officeDocument/2006/relationships/extended-properties" Target="/docProps/app.xml" Id="Rc1bf2ee413f341a7" /><Relationship Type="http://schemas.openxmlformats.org/officeDocument/2006/relationships/officeDocument" Target="/ppt/presentation.xml" Id="Rae588d42eb2047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b723bff02d4981"/>
  </p:sldMasterIdLst>
  <p:notesMasterIdLst>
    <p:notesMasterId xmlns:r="http://schemas.openxmlformats.org/officeDocument/2006/relationships" r:id="Rf99609f98ab140f5"/>
  </p:notesMasterIdLst>
  <p:sldIdLst>
    <p:sldId xmlns:r="http://schemas.openxmlformats.org/officeDocument/2006/relationships" id="256" r:id="Rb2d4cf89862c4a07"/>
    <p:sldId xmlns:r="http://schemas.openxmlformats.org/officeDocument/2006/relationships" id="257" r:id="R33798fa05bbe4e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51a57f031a46b9" /><Relationship Type="http://schemas.openxmlformats.org/officeDocument/2006/relationships/slideMaster" Target="/ppt/slideMasters/slideMaster1.xml" Id="Rafb723bff02d4981" /><Relationship Type="http://schemas.openxmlformats.org/officeDocument/2006/relationships/notesMaster" Target="/ppt/notesMasters/notesMaster1.xml" Id="Rf99609f98ab140f5" /><Relationship Type="http://schemas.openxmlformats.org/officeDocument/2006/relationships/presProps" Target="/ppt/presProps.xml" Id="Rec19df37f43d4518" /><Relationship Type="http://schemas.openxmlformats.org/officeDocument/2006/relationships/tableStyles" Target="/ppt/tableStyles.xml" Id="Rc473d7561ed448f4" /><Relationship Type="http://schemas.openxmlformats.org/officeDocument/2006/relationships/slide" Target="/ppt/slides/slide1.xml" Id="Rb2d4cf89862c4a07" /><Relationship Type="http://schemas.openxmlformats.org/officeDocument/2006/relationships/slide" Target="/ppt/slides/slide2.xml" Id="R33798fa05bbe4e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e170d9a2ef4f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0f6680caa34635" /><Relationship Type="http://schemas.openxmlformats.org/officeDocument/2006/relationships/notesMaster" Target="/ppt/notesMasters/notesMaster1.xml" Id="R88282126f1b94b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c05ac0268946cb" /><Relationship Type="http://schemas.openxmlformats.org/officeDocument/2006/relationships/notesMaster" Target="/ppt/notesMasters/notesMaster1.xml" Id="R3e97812485674c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diagram follows the rubric: load balancer, ingress, Service, pods, managed database and storage. In GKE the Ingress is configuration consumed by the controller, not a separate proxy hop; container-native load balancing uses NEGs. The deployment combines Next.js static assets and FastAPI. Google-managed TLS terminates at the load balancer; FrontendConfig redirects HTTP. The existing private Cloud SQL and bucket are reused. HPA CPU target is 60% of 500m requests, min 2 max 4. PDB minAvailable 1 applies to supported voluntary evictions, not direct deletion. Sources: k8s/*.yaml; https://docs.cloud.google.com/kubernetes-engine/docs/concepts/ingress ; https://docs.cloud.google.com/kubernetes-engine/docs/how-to/ingress-configuration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Liveness is checked every 15 seconds with a 5-second timeout. Readiness is checked every 10 seconds with a 10-second timeout. Startup probe uses the application-only endpoint and allows up to 60 attempts at 5-second intervals before liveness starts. PostgreSQL readiness requires SELECT 1 FROM stops LIMIT 1, so an empty transit database is also not ready. BackendConfig checks readiness on port 8000. The process can stay alive through a database outage after startup; initial application startup currently initializes the database connection before serving. Sources: backend/main.py; backend/database.py; k8s/deployment.yaml; k8s/backend-config.yaml; https://kubernetes.io/docs/concepts/configuration/liveness-readiness-startup-probes/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0f295aef6e43b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af034b172f4fa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aee97e2ba94a2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c16e42392b4a0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5acec0b3f94d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581cf59804b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AE7C5C-D4B5-4B03-A868-5B2FA2F629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8BB27AC-AC98-4EAD-A14F-9285075DDD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1D9333F-18C5-4AE2-BF9D-657B637237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5B8950-C1DC-4205-A1A5-F3195FAD09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11D17EE-5405-42EE-92F0-50459B0DC1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DFF56A-3240-4A23-8912-76A98DA64E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1D3A19-B2CC-4557-B1D7-ABCF90C7D1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90C8789-3E97-4C11-A24B-C0718EAE62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EA35EB-F7D1-459D-8457-8E2358A05F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93FDEA-F9CF-4B74-A65F-231A5F106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92d494f4da40a9" /><Relationship Type="http://schemas.openxmlformats.org/officeDocument/2006/relationships/slideLayout" Target="/ppt/slideLayouts/slideLayout1.xml" Id="R476ec407c82b4aa8" /><Relationship Type="http://schemas.openxmlformats.org/officeDocument/2006/relationships/slideLayout" Target="/ppt/slideLayouts/slideLayout2.xml" Id="R209134ade5b347b4" /><Relationship Type="http://schemas.openxmlformats.org/officeDocument/2006/relationships/slideLayout" Target="/ppt/slideLayouts/slideLayout3.xml" Id="Rf310a26dd2884257" /><Relationship Type="http://schemas.openxmlformats.org/officeDocument/2006/relationships/slideLayout" Target="/ppt/slideLayouts/slideLayout4.xml" Id="Rc2d2bc7b12cf45ed" /><Relationship Type="http://schemas.openxmlformats.org/officeDocument/2006/relationships/slideLayout" Target="/ppt/slideLayouts/slideLayout5.xml" Id="Rd8048375adc84f10" /><Relationship Type="http://schemas.openxmlformats.org/officeDocument/2006/relationships/slideLayout" Target="/ppt/slideLayouts/slideLayout6.xml" Id="R5ee9f7102a8d47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6ec407c82b4aa8"/>
    <p:sldLayoutId xmlns:r="http://schemas.openxmlformats.org/officeDocument/2006/relationships" id="2147483650" r:id="R209134ade5b347b4"/>
    <p:sldLayoutId xmlns:r="http://schemas.openxmlformats.org/officeDocument/2006/relationships" id="2147483651" r:id="Rf310a26dd2884257"/>
    <p:sldLayoutId xmlns:r="http://schemas.openxmlformats.org/officeDocument/2006/relationships" id="2147483652" r:id="Rc2d2bc7b12cf45ed"/>
    <p:sldLayoutId xmlns:r="http://schemas.openxmlformats.org/officeDocument/2006/relationships" id="2147483653" r:id="Rd8048375adc84f10"/>
    <p:sldLayoutId xmlns:r="http://schemas.openxmlformats.org/officeDocument/2006/relationships" id="2147483654" r:id="R5ee9f7102a8d47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b16dc128f24c88" /><Relationship Type="http://schemas.openxmlformats.org/officeDocument/2006/relationships/notesSlide" Target="/ppt/notesSlides/notesSlide1.xml" Id="R62d1540a5cf24e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161b190d1c4e25" /><Relationship Type="http://schemas.openxmlformats.org/officeDocument/2006/relationships/notesSlide" Target="/ppt/notesSlides/notesSlide2.xml" Id="R0baedfed99544c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298E91-50FD-41FD-9559-178A1D2B755A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0048875" y="3571875"/>
            <a:ext cx="523875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76A56"/>
            </a:solidFill>
            <a:tailEnd type="arrow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7CAE79-72D0-4C5A-A7DF-DA8094D69BB3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8124825" y="3571875"/>
            <a:ext cx="1924050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76A56"/>
            </a:solidFill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3F6948-D118-4052-A93E-9E90563DBC1C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096250" y="2695575"/>
            <a:ext cx="381000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6A56"/>
            </a:solidFill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CC1DAD-6C96-4769-BE8A-40D77AE78A3E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143625" y="26955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A56"/>
            </a:solidFill>
            <a:tailEnd type="arrow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E3BEE3-14AE-4E9C-8179-A16199DE5BE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191000" y="26955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A56"/>
            </a:solidFill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C8B8F8-B60C-4478-A5BD-58ED5B1DB56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952625" y="26955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A56"/>
            </a:solidFill>
            <a:tailEnd type="arrow" w="med" len="med"/>
          </a:ln>
        </p:spPr>
      </p:cxnSp>
      <p:sp>
        <p:nvSpPr>
          <p:cNvPr id="37" name="title">
            <a:extLst xmlns:a="http://schemas.openxmlformats.org/drawingml/2006/main">
              <a:ext uri="{FF2B5EF4-FFF2-40B4-BE49-F238E27FC236}">
                <a16:creationId xmlns:a16="http://schemas.microsoft.com/office/drawing/2014/main" id="{D7252311-1EB3-4ABC-8DF9-2B307E5C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3F36"/>
                </a:solidFill>
              </a:defRPr>
            </a:defPPr>
            <a:lvl1pPr>
              <a:defRPr sz="3150" b="1">
                <a:solidFill>
                  <a:srgbClr val="173F36"/>
                </a:solidFill>
              </a:defRPr>
            </a:lvl1pPr>
            <a:lvl2pPr>
              <a:defRPr sz="3150" b="1">
                <a:solidFill>
                  <a:srgbClr val="173F36"/>
                </a:solidFill>
              </a:defRPr>
            </a:lvl2pPr>
            <a:lvl3pPr>
              <a:defRPr sz="3150" b="1">
                <a:solidFill>
                  <a:srgbClr val="173F36"/>
                </a:solidFill>
              </a:defRPr>
            </a:lvl3pPr>
            <a:lvl4pPr>
              <a:defRPr sz="3150" b="1">
                <a:solidFill>
                  <a:srgbClr val="173F36"/>
                </a:solidFill>
              </a:defRPr>
            </a:lvl4pPr>
            <a:lvl5pPr>
              <a:defRPr sz="3150" b="1">
                <a:solidFill>
                  <a:srgbClr val="173F36"/>
                </a:solidFill>
              </a:defRPr>
            </a:lvl5pPr>
            <a:lvl6pPr>
              <a:defRPr sz="3150" b="1">
                <a:solidFill>
                  <a:srgbClr val="173F36"/>
                </a:solidFill>
              </a:defRPr>
            </a:lvl6pPr>
            <a:lvl7pPr>
              <a:defRPr sz="3150" b="1">
                <a:solidFill>
                  <a:srgbClr val="173F36"/>
                </a:solidFill>
              </a:defRPr>
            </a:lvl7pPr>
            <a:lvl8pPr>
              <a:defRPr sz="3150" b="1">
                <a:solidFill>
                  <a:srgbClr val="173F36"/>
                </a:solidFill>
              </a:defRPr>
            </a:lvl8pPr>
            <a:lvl9pPr>
              <a:defRPr sz="3150" b="1">
                <a:solidFill>
                  <a:srgbClr val="173F36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F36"/>
                </a:solidFill>
              </a:defRPr>
            </a:pPr>
            <a:r>
              <a:rPr sz="315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MetroAI orchestration topology</a:t>
            </a:r>
          </a:p>
        </p:txBody>
      </p:sp>
      <p:sp>
        <p:nvSpPr>
          <p:cNvPr id="2" name="group">
            <a:extLst xmlns:a="http://schemas.openxmlformats.org/drawingml/2006/main">
              <a:ext uri="{FF2B5EF4-FFF2-40B4-BE49-F238E27FC236}">
                <a16:creationId xmlns:a16="http://schemas.microsoft.com/office/drawing/2014/main" id="{AD72FA8B-8802-4621-8350-BC4E925E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51645C"/>
                </a:solidFill>
              </a:defRPr>
            </a:defPPr>
            <a:lvl1pPr>
              <a:defRPr sz="1200" b="0">
                <a:solidFill>
                  <a:srgbClr val="51645C"/>
                </a:solidFill>
              </a:defRPr>
            </a:lvl1pPr>
            <a:lvl2pPr>
              <a:defRPr sz="1200" b="0">
                <a:solidFill>
                  <a:srgbClr val="51645C"/>
                </a:solidFill>
              </a:defRPr>
            </a:lvl2pPr>
            <a:lvl3pPr>
              <a:defRPr sz="1200" b="0">
                <a:solidFill>
                  <a:srgbClr val="51645C"/>
                </a:solidFill>
              </a:defRPr>
            </a:lvl3pPr>
            <a:lvl4pPr>
              <a:defRPr sz="1200" b="0">
                <a:solidFill>
                  <a:srgbClr val="51645C"/>
                </a:solidFill>
              </a:defRPr>
            </a:lvl4pPr>
            <a:lvl5pPr>
              <a:defRPr sz="1200" b="0">
                <a:solidFill>
                  <a:srgbClr val="51645C"/>
                </a:solidFill>
              </a:defRPr>
            </a:lvl5pPr>
            <a:lvl6pPr>
              <a:defRPr sz="1200" b="0">
                <a:solidFill>
                  <a:srgbClr val="51645C"/>
                </a:solidFill>
              </a:defRPr>
            </a:lvl6pPr>
            <a:lvl7pPr>
              <a:defRPr sz="1200" b="0">
                <a:solidFill>
                  <a:srgbClr val="51645C"/>
                </a:solidFill>
              </a:defRPr>
            </a:lvl7pPr>
            <a:lvl8pPr>
              <a:defRPr sz="1200" b="0">
                <a:solidFill>
                  <a:srgbClr val="51645C"/>
                </a:solidFill>
              </a:defRPr>
            </a:lvl8pPr>
            <a:lvl9pPr>
              <a:defRPr sz="1200" b="0">
                <a:solidFill>
                  <a:srgbClr val="51645C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45C"/>
                </a:solidFill>
              </a:defRPr>
            </a:pPr>
            <a:r>
              <a:rPr sz="1200" b="0">
                <a:solidFill>
                  <a:srgbClr val="51645C"/>
                </a:solidFill>
                <a:latin typeface="Arial"/>
                <a:ea typeface="Arial"/>
                <a:cs typeface="Arial"/>
              </a:rPr>
              <a:t>MetroAI · Group 2 · Milestone 5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105988B-5731-42E9-AD83-801AC3EA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51645C"/>
                </a:solidFill>
              </a:defRPr>
            </a:defPPr>
            <a:lvl1pPr>
              <a:defRPr sz="1200" b="0">
                <a:solidFill>
                  <a:srgbClr val="51645C"/>
                </a:solidFill>
              </a:defRPr>
            </a:lvl1pPr>
            <a:lvl2pPr>
              <a:defRPr sz="1200" b="0">
                <a:solidFill>
                  <a:srgbClr val="51645C"/>
                </a:solidFill>
              </a:defRPr>
            </a:lvl2pPr>
            <a:lvl3pPr>
              <a:defRPr sz="1200" b="0">
                <a:solidFill>
                  <a:srgbClr val="51645C"/>
                </a:solidFill>
              </a:defRPr>
            </a:lvl3pPr>
            <a:lvl4pPr>
              <a:defRPr sz="1200" b="0">
                <a:solidFill>
                  <a:srgbClr val="51645C"/>
                </a:solidFill>
              </a:defRPr>
            </a:lvl4pPr>
            <a:lvl5pPr>
              <a:defRPr sz="1200" b="0">
                <a:solidFill>
                  <a:srgbClr val="51645C"/>
                </a:solidFill>
              </a:defRPr>
            </a:lvl5pPr>
            <a:lvl6pPr>
              <a:defRPr sz="1200" b="0">
                <a:solidFill>
                  <a:srgbClr val="51645C"/>
                </a:solidFill>
              </a:defRPr>
            </a:lvl6pPr>
            <a:lvl7pPr>
              <a:defRPr sz="1200" b="0">
                <a:solidFill>
                  <a:srgbClr val="51645C"/>
                </a:solidFill>
              </a:defRPr>
            </a:lvl7pPr>
            <a:lvl8pPr>
              <a:defRPr sz="1200" b="0">
                <a:solidFill>
                  <a:srgbClr val="51645C"/>
                </a:solidFill>
              </a:defRPr>
            </a:lvl8pPr>
            <a:lvl9pPr>
              <a:defRPr sz="1200" b="0">
                <a:solidFill>
                  <a:srgbClr val="51645C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45C"/>
                </a:solidFill>
              </a:defRPr>
            </a:pPr>
            <a:r>
              <a:rPr sz="1200" b="0">
                <a:solidFill>
                  <a:srgbClr val="51645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hostname">
            <a:extLst xmlns:a="http://schemas.openxmlformats.org/drawingml/2006/main">
              <a:ext uri="{FF2B5EF4-FFF2-40B4-BE49-F238E27FC236}">
                <a16:creationId xmlns:a16="http://schemas.microsoft.com/office/drawing/2014/main" id="{29F479C5-9753-4D40-93D5-F9AF3A56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51645C"/>
                </a:solidFill>
              </a:defRPr>
            </a:defPPr>
            <a:lvl1pPr>
              <a:defRPr sz="1650" b="0">
                <a:solidFill>
                  <a:srgbClr val="51645C"/>
                </a:solidFill>
              </a:defRPr>
            </a:lvl1pPr>
            <a:lvl2pPr>
              <a:defRPr sz="1650" b="0">
                <a:solidFill>
                  <a:srgbClr val="51645C"/>
                </a:solidFill>
              </a:defRPr>
            </a:lvl2pPr>
            <a:lvl3pPr>
              <a:defRPr sz="1650" b="0">
                <a:solidFill>
                  <a:srgbClr val="51645C"/>
                </a:solidFill>
              </a:defRPr>
            </a:lvl3pPr>
            <a:lvl4pPr>
              <a:defRPr sz="1650" b="0">
                <a:solidFill>
                  <a:srgbClr val="51645C"/>
                </a:solidFill>
              </a:defRPr>
            </a:lvl4pPr>
            <a:lvl5pPr>
              <a:defRPr sz="1650" b="0">
                <a:solidFill>
                  <a:srgbClr val="51645C"/>
                </a:solidFill>
              </a:defRPr>
            </a:lvl5pPr>
            <a:lvl6pPr>
              <a:defRPr sz="1650" b="0">
                <a:solidFill>
                  <a:srgbClr val="51645C"/>
                </a:solidFill>
              </a:defRPr>
            </a:lvl6pPr>
            <a:lvl7pPr>
              <a:defRPr sz="1650" b="0">
                <a:solidFill>
                  <a:srgbClr val="51645C"/>
                </a:solidFill>
              </a:defRPr>
            </a:lvl7pPr>
            <a:lvl8pPr>
              <a:defRPr sz="1650" b="0">
                <a:solidFill>
                  <a:srgbClr val="51645C"/>
                </a:solidFill>
              </a:defRPr>
            </a:lvl8pPr>
            <a:lvl9pPr>
              <a:defRPr sz="1650" b="0">
                <a:solidFill>
                  <a:srgbClr val="51645C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1645C"/>
                </a:solidFill>
              </a:defRPr>
            </a:pPr>
            <a:r>
              <a:rPr sz="1650" b="0">
                <a:solidFill>
                  <a:srgbClr val="51645C"/>
                </a:solidFill>
                <a:latin typeface="Arial"/>
                <a:ea typeface="Arial"/>
                <a:cs typeface="Arial"/>
              </a:rPr>
              <a:t>metroai.136.81.119.160.sslip.io</a:t>
            </a:r>
          </a:p>
        </p:txBody>
      </p:sp>
      <p:sp>
        <p:nvSpPr>
          <p:cNvPr id="5" name="browser">
            <a:extLst xmlns:a="http://schemas.openxmlformats.org/drawingml/2006/main">
              <a:ext uri="{FF2B5EF4-FFF2-40B4-BE49-F238E27FC236}">
                <a16:creationId xmlns:a16="http://schemas.microsoft.com/office/drawing/2014/main" id="{5A0B2CD8-43F0-40DF-A1ED-B15A5757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5025"/>
            <a:ext cx="138112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FA5"/>
            </a:solidFill>
          </a:ln>
        </p:spPr>
      </p:sp>
      <p:sp>
        <p:nvSpPr>
          <p:cNvPr id="6" name="browser-label">
            <a:extLst xmlns:a="http://schemas.openxmlformats.org/drawingml/2006/main">
              <a:ext uri="{FF2B5EF4-FFF2-40B4-BE49-F238E27FC236}">
                <a16:creationId xmlns:a16="http://schemas.microsoft.com/office/drawing/2014/main" id="{43017B75-221D-4489-9CB7-5B25945C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1">
                <a:solidFill>
                  <a:srgbClr val="173F36"/>
                </a:solidFill>
              </a:defRPr>
            </a:defPPr>
            <a:lvl1pPr>
              <a:defRPr sz="1725" b="1">
                <a:solidFill>
                  <a:srgbClr val="173F36"/>
                </a:solidFill>
              </a:defRPr>
            </a:lvl1pPr>
            <a:lvl2pPr>
              <a:defRPr sz="1725" b="1">
                <a:solidFill>
                  <a:srgbClr val="173F36"/>
                </a:solidFill>
              </a:defRPr>
            </a:lvl2pPr>
            <a:lvl3pPr>
              <a:defRPr sz="1725" b="1">
                <a:solidFill>
                  <a:srgbClr val="173F36"/>
                </a:solidFill>
              </a:defRPr>
            </a:lvl3pPr>
            <a:lvl4pPr>
              <a:defRPr sz="1725" b="1">
                <a:solidFill>
                  <a:srgbClr val="173F36"/>
                </a:solidFill>
              </a:defRPr>
            </a:lvl4pPr>
            <a:lvl5pPr>
              <a:defRPr sz="1725" b="1">
                <a:solidFill>
                  <a:srgbClr val="173F36"/>
                </a:solidFill>
              </a:defRPr>
            </a:lvl5pPr>
            <a:lvl6pPr>
              <a:defRPr sz="1725" b="1">
                <a:solidFill>
                  <a:srgbClr val="173F36"/>
                </a:solidFill>
              </a:defRPr>
            </a:lvl6pPr>
            <a:lvl7pPr>
              <a:defRPr sz="1725" b="1">
                <a:solidFill>
                  <a:srgbClr val="173F36"/>
                </a:solidFill>
              </a:defRPr>
            </a:lvl7pPr>
            <a:lvl8pPr>
              <a:defRPr sz="1725" b="1">
                <a:solidFill>
                  <a:srgbClr val="173F36"/>
                </a:solidFill>
              </a:defRPr>
            </a:lvl8pPr>
            <a:lvl9pPr>
              <a:defRPr sz="1725" b="1">
                <a:solidFill>
                  <a:srgbClr val="173F36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3F36"/>
                </a:solidFill>
              </a:defRPr>
            </a:pPr>
            <a:r>
              <a:rPr sz="1725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7" name="browser-sub">
            <a:extLst xmlns:a="http://schemas.openxmlformats.org/drawingml/2006/main">
              <a:ext uri="{FF2B5EF4-FFF2-40B4-BE49-F238E27FC236}">
                <a16:creationId xmlns:a16="http://schemas.microsoft.com/office/drawing/2014/main" id="{1C51C251-F19C-4AF4-B80C-9C75B25F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173F36"/>
                </a:solidFill>
              </a:defRPr>
            </a:defPPr>
            <a:lvl1pPr>
              <a:defRPr sz="1500" b="0">
                <a:solidFill>
                  <a:srgbClr val="173F36"/>
                </a:solidFill>
              </a:defRPr>
            </a:lvl1pPr>
            <a:lvl2pPr>
              <a:defRPr sz="1500" b="0">
                <a:solidFill>
                  <a:srgbClr val="173F36"/>
                </a:solidFill>
              </a:defRPr>
            </a:lvl2pPr>
            <a:lvl3pPr>
              <a:defRPr sz="1500" b="0">
                <a:solidFill>
                  <a:srgbClr val="173F36"/>
                </a:solidFill>
              </a:defRPr>
            </a:lvl3pPr>
            <a:lvl4pPr>
              <a:defRPr sz="1500" b="0">
                <a:solidFill>
                  <a:srgbClr val="173F36"/>
                </a:solidFill>
              </a:defRPr>
            </a:lvl4pPr>
            <a:lvl5pPr>
              <a:defRPr sz="1500" b="0">
                <a:solidFill>
                  <a:srgbClr val="173F36"/>
                </a:solidFill>
              </a:defRPr>
            </a:lvl5pPr>
            <a:lvl6pPr>
              <a:defRPr sz="1500" b="0">
                <a:solidFill>
                  <a:srgbClr val="173F36"/>
                </a:solidFill>
              </a:defRPr>
            </a:lvl6pPr>
            <a:lvl7pPr>
              <a:defRPr sz="1500" b="0">
                <a:solidFill>
                  <a:srgbClr val="173F36"/>
                </a:solidFill>
              </a:defRPr>
            </a:lvl7pPr>
            <a:lvl8pPr>
              <a:defRPr sz="1500" b="0">
                <a:solidFill>
                  <a:srgbClr val="173F36"/>
                </a:solidFill>
              </a:defRPr>
            </a:lvl8pPr>
            <a:lvl9pPr>
              <a:defRPr sz="1500" b="0">
                <a:solidFill>
                  <a:srgbClr val="173F3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F36"/>
                </a:solidFill>
              </a:defRPr>
            </a:pPr>
            <a:r>
              <a:rPr sz="1500" b="0">
                <a:solidFill>
                  <a:srgbClr val="173F36"/>
                </a:solidFill>
                <a:latin typeface="Arial"/>
                <a:ea typeface="Arial"/>
                <a:cs typeface="Arial"/>
              </a:rPr>
              <a:t>HTTPS</a:t>
            </a:r>
          </a:p>
        </p:txBody>
      </p:sp>
      <p:sp>
        <p:nvSpPr>
          <p:cNvPr id="8" name="load-balancer">
            <a:extLst xmlns:a="http://schemas.openxmlformats.org/drawingml/2006/main">
              <a:ext uri="{FF2B5EF4-FFF2-40B4-BE49-F238E27FC236}">
                <a16:creationId xmlns:a16="http://schemas.microsoft.com/office/drawing/2014/main" id="{3C984423-B3C5-46F8-9254-DFABC0CF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105025"/>
            <a:ext cx="185737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1EEE7"/>
          </a:solidFill>
          <a:ln xmlns:a="http://schemas.openxmlformats.org/drawingml/2006/main" w="9525">
            <a:solidFill>
              <a:srgbClr val="9AAFA5"/>
            </a:solidFill>
          </a:ln>
        </p:spPr>
      </p:sp>
      <p:sp>
        <p:nvSpPr>
          <p:cNvPr id="9" name="lb-label">
            <a:extLst xmlns:a="http://schemas.openxmlformats.org/drawingml/2006/main">
              <a:ext uri="{FF2B5EF4-FFF2-40B4-BE49-F238E27FC236}">
                <a16:creationId xmlns:a16="http://schemas.microsoft.com/office/drawing/2014/main" id="{BB99A177-5612-4C46-9EDB-F66E2DD0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8600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1">
                <a:solidFill>
                  <a:srgbClr val="173F36"/>
                </a:solidFill>
              </a:defRPr>
            </a:defPPr>
            <a:lvl1pPr>
              <a:defRPr sz="1650" b="1">
                <a:solidFill>
                  <a:srgbClr val="173F36"/>
                </a:solidFill>
              </a:defRPr>
            </a:lvl1pPr>
            <a:lvl2pPr>
              <a:defRPr sz="1650" b="1">
                <a:solidFill>
                  <a:srgbClr val="173F36"/>
                </a:solidFill>
              </a:defRPr>
            </a:lvl2pPr>
            <a:lvl3pPr>
              <a:defRPr sz="1650" b="1">
                <a:solidFill>
                  <a:srgbClr val="173F36"/>
                </a:solidFill>
              </a:defRPr>
            </a:lvl3pPr>
            <a:lvl4pPr>
              <a:defRPr sz="1650" b="1">
                <a:solidFill>
                  <a:srgbClr val="173F36"/>
                </a:solidFill>
              </a:defRPr>
            </a:lvl4pPr>
            <a:lvl5pPr>
              <a:defRPr sz="1650" b="1">
                <a:solidFill>
                  <a:srgbClr val="173F36"/>
                </a:solidFill>
              </a:defRPr>
            </a:lvl5pPr>
            <a:lvl6pPr>
              <a:defRPr sz="1650" b="1">
                <a:solidFill>
                  <a:srgbClr val="173F36"/>
                </a:solidFill>
              </a:defRPr>
            </a:lvl6pPr>
            <a:lvl7pPr>
              <a:defRPr sz="1650" b="1">
                <a:solidFill>
                  <a:srgbClr val="173F36"/>
                </a:solidFill>
              </a:defRPr>
            </a:lvl7pPr>
            <a:lvl8pPr>
              <a:defRPr sz="1650" b="1">
                <a:solidFill>
                  <a:srgbClr val="173F36"/>
                </a:solidFill>
              </a:defRPr>
            </a:lvl8pPr>
            <a:lvl9pPr>
              <a:defRPr sz="1650" b="1">
                <a:solidFill>
                  <a:srgbClr val="173F36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3F36"/>
                </a:solidFill>
              </a:defRPr>
            </a:pPr>
            <a:r>
              <a:rPr sz="165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Google Cloud</a:t>
            </a:r>
          </a:p>
        </p:txBody>
      </p:sp>
      <p:sp>
        <p:nvSpPr>
          <p:cNvPr id="10" name="lb-label-2">
            <a:extLst xmlns:a="http://schemas.openxmlformats.org/drawingml/2006/main">
              <a:ext uri="{FF2B5EF4-FFF2-40B4-BE49-F238E27FC236}">
                <a16:creationId xmlns:a16="http://schemas.microsoft.com/office/drawing/2014/main" id="{DD84366F-B55A-427F-9AAB-09538CE7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0985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1">
                <a:solidFill>
                  <a:srgbClr val="173F36"/>
                </a:solidFill>
              </a:defRPr>
            </a:defPPr>
            <a:lvl1pPr>
              <a:defRPr sz="1650" b="1">
                <a:solidFill>
                  <a:srgbClr val="173F36"/>
                </a:solidFill>
              </a:defRPr>
            </a:lvl1pPr>
            <a:lvl2pPr>
              <a:defRPr sz="1650" b="1">
                <a:solidFill>
                  <a:srgbClr val="173F36"/>
                </a:solidFill>
              </a:defRPr>
            </a:lvl2pPr>
            <a:lvl3pPr>
              <a:defRPr sz="1650" b="1">
                <a:solidFill>
                  <a:srgbClr val="173F36"/>
                </a:solidFill>
              </a:defRPr>
            </a:lvl3pPr>
            <a:lvl4pPr>
              <a:defRPr sz="1650" b="1">
                <a:solidFill>
                  <a:srgbClr val="173F36"/>
                </a:solidFill>
              </a:defRPr>
            </a:lvl4pPr>
            <a:lvl5pPr>
              <a:defRPr sz="1650" b="1">
                <a:solidFill>
                  <a:srgbClr val="173F36"/>
                </a:solidFill>
              </a:defRPr>
            </a:lvl5pPr>
            <a:lvl6pPr>
              <a:defRPr sz="1650" b="1">
                <a:solidFill>
                  <a:srgbClr val="173F36"/>
                </a:solidFill>
              </a:defRPr>
            </a:lvl6pPr>
            <a:lvl7pPr>
              <a:defRPr sz="1650" b="1">
                <a:solidFill>
                  <a:srgbClr val="173F36"/>
                </a:solidFill>
              </a:defRPr>
            </a:lvl7pPr>
            <a:lvl8pPr>
              <a:defRPr sz="1650" b="1">
                <a:solidFill>
                  <a:srgbClr val="173F36"/>
                </a:solidFill>
              </a:defRPr>
            </a:lvl8pPr>
            <a:lvl9pPr>
              <a:defRPr sz="1650" b="1">
                <a:solidFill>
                  <a:srgbClr val="173F36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3F36"/>
                </a:solidFill>
              </a:defRPr>
            </a:pPr>
            <a:r>
              <a:rPr sz="165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load balancer</a:t>
            </a:r>
          </a:p>
        </p:txBody>
      </p:sp>
      <p:sp>
        <p:nvSpPr>
          <p:cNvPr id="11" name="ingress">
            <a:extLst xmlns:a="http://schemas.openxmlformats.org/drawingml/2006/main">
              <a:ext uri="{FF2B5EF4-FFF2-40B4-BE49-F238E27FC236}">
                <a16:creationId xmlns:a16="http://schemas.microsoft.com/office/drawing/2014/main" id="{37E7BED7-C7D1-42A1-AB20-40E53A7C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05025"/>
            <a:ext cx="157162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FA5"/>
            </a:solidFill>
          </a:ln>
        </p:spPr>
      </p:sp>
      <p:sp>
        <p:nvSpPr>
          <p:cNvPr id="12" name="ing-label">
            <a:extLst xmlns:a="http://schemas.openxmlformats.org/drawingml/2006/main">
              <a:ext uri="{FF2B5EF4-FFF2-40B4-BE49-F238E27FC236}">
                <a16:creationId xmlns:a16="http://schemas.microsoft.com/office/drawing/2014/main" id="{4DC6C595-3D2C-45AF-BE0C-D2C959EB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2860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1">
                <a:solidFill>
                  <a:srgbClr val="173F36"/>
                </a:solidFill>
              </a:defRPr>
            </a:defPPr>
            <a:lvl1pPr>
              <a:defRPr sz="1800" b="1">
                <a:solidFill>
                  <a:srgbClr val="173F36"/>
                </a:solidFill>
              </a:defRPr>
            </a:lvl1pPr>
            <a:lvl2pPr>
              <a:defRPr sz="1800" b="1">
                <a:solidFill>
                  <a:srgbClr val="173F36"/>
                </a:solidFill>
              </a:defRPr>
            </a:lvl2pPr>
            <a:lvl3pPr>
              <a:defRPr sz="1800" b="1">
                <a:solidFill>
                  <a:srgbClr val="173F36"/>
                </a:solidFill>
              </a:defRPr>
            </a:lvl3pPr>
            <a:lvl4pPr>
              <a:defRPr sz="1800" b="1">
                <a:solidFill>
                  <a:srgbClr val="173F36"/>
                </a:solidFill>
              </a:defRPr>
            </a:lvl4pPr>
            <a:lvl5pPr>
              <a:defRPr sz="1800" b="1">
                <a:solidFill>
                  <a:srgbClr val="173F36"/>
                </a:solidFill>
              </a:defRPr>
            </a:lvl5pPr>
            <a:lvl6pPr>
              <a:defRPr sz="1800" b="1">
                <a:solidFill>
                  <a:srgbClr val="173F36"/>
                </a:solidFill>
              </a:defRPr>
            </a:lvl6pPr>
            <a:lvl7pPr>
              <a:defRPr sz="1800" b="1">
                <a:solidFill>
                  <a:srgbClr val="173F36"/>
                </a:solidFill>
              </a:defRPr>
            </a:lvl7pPr>
            <a:lvl8pPr>
              <a:defRPr sz="1800" b="1">
                <a:solidFill>
                  <a:srgbClr val="173F36"/>
                </a:solidFill>
              </a:defRPr>
            </a:lvl8pPr>
            <a:lvl9pPr>
              <a:defRPr sz="1800" b="1">
                <a:solidFill>
                  <a:srgbClr val="173F36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3F36"/>
                </a:solidFill>
              </a:defRPr>
            </a:pPr>
            <a:r>
              <a:rPr sz="180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Ingress</a:t>
            </a:r>
          </a:p>
        </p:txBody>
      </p:sp>
      <p:sp>
        <p:nvSpPr>
          <p:cNvPr id="13" name="ing-sub">
            <a:extLst xmlns:a="http://schemas.openxmlformats.org/drawingml/2006/main">
              <a:ext uri="{FF2B5EF4-FFF2-40B4-BE49-F238E27FC236}">
                <a16:creationId xmlns:a16="http://schemas.microsoft.com/office/drawing/2014/main" id="{AB6AB865-B35C-4957-B3D4-01AD5C0D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051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0">
                <a:solidFill>
                  <a:srgbClr val="173F36"/>
                </a:solidFill>
              </a:defRPr>
            </a:defPPr>
            <a:lvl1pPr>
              <a:defRPr sz="1425" b="0">
                <a:solidFill>
                  <a:srgbClr val="173F36"/>
                </a:solidFill>
              </a:defRPr>
            </a:lvl1pPr>
            <a:lvl2pPr>
              <a:defRPr sz="1425" b="0">
                <a:solidFill>
                  <a:srgbClr val="173F36"/>
                </a:solidFill>
              </a:defRPr>
            </a:lvl2pPr>
            <a:lvl3pPr>
              <a:defRPr sz="1425" b="0">
                <a:solidFill>
                  <a:srgbClr val="173F36"/>
                </a:solidFill>
              </a:defRPr>
            </a:lvl3pPr>
            <a:lvl4pPr>
              <a:defRPr sz="1425" b="0">
                <a:solidFill>
                  <a:srgbClr val="173F36"/>
                </a:solidFill>
              </a:defRPr>
            </a:lvl4pPr>
            <a:lvl5pPr>
              <a:defRPr sz="1425" b="0">
                <a:solidFill>
                  <a:srgbClr val="173F36"/>
                </a:solidFill>
              </a:defRPr>
            </a:lvl5pPr>
            <a:lvl6pPr>
              <a:defRPr sz="1425" b="0">
                <a:solidFill>
                  <a:srgbClr val="173F36"/>
                </a:solidFill>
              </a:defRPr>
            </a:lvl6pPr>
            <a:lvl7pPr>
              <a:defRPr sz="1425" b="0">
                <a:solidFill>
                  <a:srgbClr val="173F36"/>
                </a:solidFill>
              </a:defRPr>
            </a:lvl7pPr>
            <a:lvl8pPr>
              <a:defRPr sz="1425" b="0">
                <a:solidFill>
                  <a:srgbClr val="173F36"/>
                </a:solidFill>
              </a:defRPr>
            </a:lvl8pPr>
            <a:lvl9pPr>
              <a:defRPr sz="1425" b="0">
                <a:solidFill>
                  <a:srgbClr val="173F36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3F36"/>
                </a:solidFill>
              </a:defRPr>
            </a:pPr>
            <a:r>
              <a:rPr sz="1425" b="0">
                <a:solidFill>
                  <a:srgbClr val="173F36"/>
                </a:solidFill>
                <a:latin typeface="Arial"/>
                <a:ea typeface="Arial"/>
                <a:cs typeface="Arial"/>
              </a:rPr>
              <a:t>Host + path</a:t>
            </a:r>
          </a:p>
        </p:txBody>
      </p:sp>
      <p:sp>
        <p:nvSpPr>
          <p:cNvPr id="14" name="service">
            <a:extLst xmlns:a="http://schemas.openxmlformats.org/drawingml/2006/main">
              <a:ext uri="{FF2B5EF4-FFF2-40B4-BE49-F238E27FC236}">
                <a16:creationId xmlns:a16="http://schemas.microsoft.com/office/drawing/2014/main" id="{C94844A3-6C2A-4E07-B26C-46CA858D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05025"/>
            <a:ext cx="157162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FA5"/>
            </a:solidFill>
          </a:ln>
        </p:spPr>
      </p:sp>
      <p:sp>
        <p:nvSpPr>
          <p:cNvPr id="15" name="svc-label">
            <a:extLst xmlns:a="http://schemas.openxmlformats.org/drawingml/2006/main">
              <a:ext uri="{FF2B5EF4-FFF2-40B4-BE49-F238E27FC236}">
                <a16:creationId xmlns:a16="http://schemas.microsoft.com/office/drawing/2014/main" id="{AD676B64-5ACB-4C87-B6AF-E8D462C0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8600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1">
                <a:solidFill>
                  <a:srgbClr val="173F36"/>
                </a:solidFill>
              </a:defRPr>
            </a:defPPr>
            <a:lvl1pPr>
              <a:defRPr sz="1800" b="1">
                <a:solidFill>
                  <a:srgbClr val="173F36"/>
                </a:solidFill>
              </a:defRPr>
            </a:lvl1pPr>
            <a:lvl2pPr>
              <a:defRPr sz="1800" b="1">
                <a:solidFill>
                  <a:srgbClr val="173F36"/>
                </a:solidFill>
              </a:defRPr>
            </a:lvl2pPr>
            <a:lvl3pPr>
              <a:defRPr sz="1800" b="1">
                <a:solidFill>
                  <a:srgbClr val="173F36"/>
                </a:solidFill>
              </a:defRPr>
            </a:lvl3pPr>
            <a:lvl4pPr>
              <a:defRPr sz="1800" b="1">
                <a:solidFill>
                  <a:srgbClr val="173F36"/>
                </a:solidFill>
              </a:defRPr>
            </a:lvl4pPr>
            <a:lvl5pPr>
              <a:defRPr sz="1800" b="1">
                <a:solidFill>
                  <a:srgbClr val="173F36"/>
                </a:solidFill>
              </a:defRPr>
            </a:lvl5pPr>
            <a:lvl6pPr>
              <a:defRPr sz="1800" b="1">
                <a:solidFill>
                  <a:srgbClr val="173F36"/>
                </a:solidFill>
              </a:defRPr>
            </a:lvl6pPr>
            <a:lvl7pPr>
              <a:defRPr sz="1800" b="1">
                <a:solidFill>
                  <a:srgbClr val="173F36"/>
                </a:solidFill>
              </a:defRPr>
            </a:lvl7pPr>
            <a:lvl8pPr>
              <a:defRPr sz="1800" b="1">
                <a:solidFill>
                  <a:srgbClr val="173F36"/>
                </a:solidFill>
              </a:defRPr>
            </a:lvl8pPr>
            <a:lvl9pPr>
              <a:defRPr sz="1800" b="1">
                <a:solidFill>
                  <a:srgbClr val="173F36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3F36"/>
                </a:solidFill>
              </a:defRPr>
            </a:pPr>
            <a:r>
              <a:rPr sz="180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16" name="svc-sub">
            <a:extLst xmlns:a="http://schemas.openxmlformats.org/drawingml/2006/main">
              <a:ext uri="{FF2B5EF4-FFF2-40B4-BE49-F238E27FC236}">
                <a16:creationId xmlns:a16="http://schemas.microsoft.com/office/drawing/2014/main" id="{9B19BAC1-827D-4D31-9327-AB0722BD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051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0">
                <a:solidFill>
                  <a:srgbClr val="173F36"/>
                </a:solidFill>
              </a:defRPr>
            </a:defPPr>
            <a:lvl1pPr>
              <a:defRPr sz="1425" b="0">
                <a:solidFill>
                  <a:srgbClr val="173F36"/>
                </a:solidFill>
              </a:defRPr>
            </a:lvl1pPr>
            <a:lvl2pPr>
              <a:defRPr sz="1425" b="0">
                <a:solidFill>
                  <a:srgbClr val="173F36"/>
                </a:solidFill>
              </a:defRPr>
            </a:lvl2pPr>
            <a:lvl3pPr>
              <a:defRPr sz="1425" b="0">
                <a:solidFill>
                  <a:srgbClr val="173F36"/>
                </a:solidFill>
              </a:defRPr>
            </a:lvl3pPr>
            <a:lvl4pPr>
              <a:defRPr sz="1425" b="0">
                <a:solidFill>
                  <a:srgbClr val="173F36"/>
                </a:solidFill>
              </a:defRPr>
            </a:lvl4pPr>
            <a:lvl5pPr>
              <a:defRPr sz="1425" b="0">
                <a:solidFill>
                  <a:srgbClr val="173F36"/>
                </a:solidFill>
              </a:defRPr>
            </a:lvl5pPr>
            <a:lvl6pPr>
              <a:defRPr sz="1425" b="0">
                <a:solidFill>
                  <a:srgbClr val="173F36"/>
                </a:solidFill>
              </a:defRPr>
            </a:lvl6pPr>
            <a:lvl7pPr>
              <a:defRPr sz="1425" b="0">
                <a:solidFill>
                  <a:srgbClr val="173F36"/>
                </a:solidFill>
              </a:defRPr>
            </a:lvl7pPr>
            <a:lvl8pPr>
              <a:defRPr sz="1425" b="0">
                <a:solidFill>
                  <a:srgbClr val="173F36"/>
                </a:solidFill>
              </a:defRPr>
            </a:lvl8pPr>
            <a:lvl9pPr>
              <a:defRPr sz="1425" b="0">
                <a:solidFill>
                  <a:srgbClr val="173F36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3F36"/>
                </a:solidFill>
              </a:defRPr>
            </a:pPr>
            <a:r>
              <a:rPr sz="1425" b="0">
                <a:solidFill>
                  <a:srgbClr val="173F36"/>
                </a:solidFill>
                <a:latin typeface="Arial"/>
                <a:ea typeface="Arial"/>
                <a:cs typeface="Arial"/>
              </a:rPr>
              <a:t>80 → 8000</a:t>
            </a:r>
          </a:p>
        </p:txBody>
      </p:sp>
      <p:sp>
        <p:nvSpPr>
          <p:cNvPr id="17" name="pods">
            <a:extLst xmlns:a="http://schemas.openxmlformats.org/drawingml/2006/main">
              <a:ext uri="{FF2B5EF4-FFF2-40B4-BE49-F238E27FC236}">
                <a16:creationId xmlns:a16="http://schemas.microsoft.com/office/drawing/2014/main" id="{FDD238F4-1D3C-4133-8E5F-029DE803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14525"/>
            <a:ext cx="31432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1EEE7"/>
          </a:solidFill>
          <a:ln xmlns:a="http://schemas.openxmlformats.org/drawingml/2006/main" w="9525">
            <a:solidFill>
              <a:srgbClr val="9AAFA5"/>
            </a:solidFill>
          </a:ln>
        </p:spPr>
      </p:sp>
      <p:sp>
        <p:nvSpPr>
          <p:cNvPr id="18" name="pods-label">
            <a:extLst xmlns:a="http://schemas.openxmlformats.org/drawingml/2006/main">
              <a:ext uri="{FF2B5EF4-FFF2-40B4-BE49-F238E27FC236}">
                <a16:creationId xmlns:a16="http://schemas.microsoft.com/office/drawing/2014/main" id="{A2F9B1C7-A6BC-4DAA-B15C-BB60D335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809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1">
                <a:solidFill>
                  <a:srgbClr val="173F36"/>
                </a:solidFill>
              </a:defRPr>
            </a:defPPr>
            <a:lvl1pPr>
              <a:defRPr sz="1650" b="1">
                <a:solidFill>
                  <a:srgbClr val="173F36"/>
                </a:solidFill>
              </a:defRPr>
            </a:lvl1pPr>
            <a:lvl2pPr>
              <a:defRPr sz="1650" b="1">
                <a:solidFill>
                  <a:srgbClr val="173F36"/>
                </a:solidFill>
              </a:defRPr>
            </a:lvl2pPr>
            <a:lvl3pPr>
              <a:defRPr sz="1650" b="1">
                <a:solidFill>
                  <a:srgbClr val="173F36"/>
                </a:solidFill>
              </a:defRPr>
            </a:lvl3pPr>
            <a:lvl4pPr>
              <a:defRPr sz="1650" b="1">
                <a:solidFill>
                  <a:srgbClr val="173F36"/>
                </a:solidFill>
              </a:defRPr>
            </a:lvl4pPr>
            <a:lvl5pPr>
              <a:defRPr sz="1650" b="1">
                <a:solidFill>
                  <a:srgbClr val="173F36"/>
                </a:solidFill>
              </a:defRPr>
            </a:lvl5pPr>
            <a:lvl6pPr>
              <a:defRPr sz="1650" b="1">
                <a:solidFill>
                  <a:srgbClr val="173F36"/>
                </a:solidFill>
              </a:defRPr>
            </a:lvl6pPr>
            <a:lvl7pPr>
              <a:defRPr sz="1650" b="1">
                <a:solidFill>
                  <a:srgbClr val="173F36"/>
                </a:solidFill>
              </a:defRPr>
            </a:lvl7pPr>
            <a:lvl8pPr>
              <a:defRPr sz="1650" b="1">
                <a:solidFill>
                  <a:srgbClr val="173F36"/>
                </a:solidFill>
              </a:defRPr>
            </a:lvl8pPr>
            <a:lvl9pPr>
              <a:defRPr sz="1650" b="1">
                <a:solidFill>
                  <a:srgbClr val="173F36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3F36"/>
                </a:solidFill>
              </a:defRPr>
            </a:pPr>
            <a:r>
              <a:rPr sz="165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GKE application replicas</a:t>
            </a:r>
          </a:p>
        </p:txBody>
      </p:sp>
      <p:sp>
        <p:nvSpPr>
          <p:cNvPr id="19" name="pod1">
            <a:extLst xmlns:a="http://schemas.openxmlformats.org/drawingml/2006/main">
              <a:ext uri="{FF2B5EF4-FFF2-40B4-BE49-F238E27FC236}">
                <a16:creationId xmlns:a16="http://schemas.microsoft.com/office/drawing/2014/main" id="{A80FCECF-9EEA-4019-944F-3B52AD40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571750"/>
            <a:ext cx="12954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FA5"/>
            </a:solidFill>
          </a:ln>
        </p:spPr>
      </p:sp>
      <p:sp>
        <p:nvSpPr>
          <p:cNvPr id="20" name="pod1-label">
            <a:extLst xmlns:a="http://schemas.openxmlformats.org/drawingml/2006/main">
              <a:ext uri="{FF2B5EF4-FFF2-40B4-BE49-F238E27FC236}">
                <a16:creationId xmlns:a16="http://schemas.microsoft.com/office/drawing/2014/main" id="{F85E37C7-60F0-4EC3-BACF-FFA59D48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67000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1">
                <a:solidFill>
                  <a:srgbClr val="173F36"/>
                </a:solidFill>
              </a:defRPr>
            </a:defPPr>
            <a:lvl1pPr>
              <a:defRPr sz="1425" b="1">
                <a:solidFill>
                  <a:srgbClr val="173F36"/>
                </a:solidFill>
              </a:defRPr>
            </a:lvl1pPr>
            <a:lvl2pPr>
              <a:defRPr sz="1425" b="1">
                <a:solidFill>
                  <a:srgbClr val="173F36"/>
                </a:solidFill>
              </a:defRPr>
            </a:lvl2pPr>
            <a:lvl3pPr>
              <a:defRPr sz="1425" b="1">
                <a:solidFill>
                  <a:srgbClr val="173F36"/>
                </a:solidFill>
              </a:defRPr>
            </a:lvl3pPr>
            <a:lvl4pPr>
              <a:defRPr sz="1425" b="1">
                <a:solidFill>
                  <a:srgbClr val="173F36"/>
                </a:solidFill>
              </a:defRPr>
            </a:lvl4pPr>
            <a:lvl5pPr>
              <a:defRPr sz="1425" b="1">
                <a:solidFill>
                  <a:srgbClr val="173F36"/>
                </a:solidFill>
              </a:defRPr>
            </a:lvl5pPr>
            <a:lvl6pPr>
              <a:defRPr sz="1425" b="1">
                <a:solidFill>
                  <a:srgbClr val="173F36"/>
                </a:solidFill>
              </a:defRPr>
            </a:lvl6pPr>
            <a:lvl7pPr>
              <a:defRPr sz="1425" b="1">
                <a:solidFill>
                  <a:srgbClr val="173F36"/>
                </a:solidFill>
              </a:defRPr>
            </a:lvl7pPr>
            <a:lvl8pPr>
              <a:defRPr sz="1425" b="1">
                <a:solidFill>
                  <a:srgbClr val="173F36"/>
                </a:solidFill>
              </a:defRPr>
            </a:lvl8pPr>
            <a:lvl9pPr>
              <a:defRPr sz="1425" b="1">
                <a:solidFill>
                  <a:srgbClr val="173F36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3F36"/>
                </a:solidFill>
              </a:defRPr>
            </a:pPr>
            <a:r>
              <a:rPr sz="1425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pPr>
              <a:defRPr sz="1425" b="1">
                <a:solidFill>
                  <a:srgbClr val="173F36"/>
                </a:solidFill>
              </a:defRPr>
            </a:pPr>
            <a:r>
              <a:rPr sz="1425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+ frontend</a:t>
            </a:r>
          </a:p>
        </p:txBody>
      </p:sp>
      <p:sp>
        <p:nvSpPr>
          <p:cNvPr id="21" name="pod2">
            <a:extLst xmlns:a="http://schemas.openxmlformats.org/drawingml/2006/main">
              <a:ext uri="{FF2B5EF4-FFF2-40B4-BE49-F238E27FC236}">
                <a16:creationId xmlns:a16="http://schemas.microsoft.com/office/drawing/2014/main" id="{B27D26B0-276C-434E-9A01-920253CD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571750"/>
            <a:ext cx="12954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FA5"/>
            </a:solidFill>
          </a:ln>
        </p:spPr>
      </p:sp>
      <p:sp>
        <p:nvSpPr>
          <p:cNvPr id="22" name="pod2-label">
            <a:extLst xmlns:a="http://schemas.openxmlformats.org/drawingml/2006/main">
              <a:ext uri="{FF2B5EF4-FFF2-40B4-BE49-F238E27FC236}">
                <a16:creationId xmlns:a16="http://schemas.microsoft.com/office/drawing/2014/main" id="{80AAE7A4-B40A-4B54-ABFC-80F20C33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67000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1">
                <a:solidFill>
                  <a:srgbClr val="173F36"/>
                </a:solidFill>
              </a:defRPr>
            </a:defPPr>
            <a:lvl1pPr>
              <a:defRPr sz="1425" b="1">
                <a:solidFill>
                  <a:srgbClr val="173F36"/>
                </a:solidFill>
              </a:defRPr>
            </a:lvl1pPr>
            <a:lvl2pPr>
              <a:defRPr sz="1425" b="1">
                <a:solidFill>
                  <a:srgbClr val="173F36"/>
                </a:solidFill>
              </a:defRPr>
            </a:lvl2pPr>
            <a:lvl3pPr>
              <a:defRPr sz="1425" b="1">
                <a:solidFill>
                  <a:srgbClr val="173F36"/>
                </a:solidFill>
              </a:defRPr>
            </a:lvl3pPr>
            <a:lvl4pPr>
              <a:defRPr sz="1425" b="1">
                <a:solidFill>
                  <a:srgbClr val="173F36"/>
                </a:solidFill>
              </a:defRPr>
            </a:lvl4pPr>
            <a:lvl5pPr>
              <a:defRPr sz="1425" b="1">
                <a:solidFill>
                  <a:srgbClr val="173F36"/>
                </a:solidFill>
              </a:defRPr>
            </a:lvl5pPr>
            <a:lvl6pPr>
              <a:defRPr sz="1425" b="1">
                <a:solidFill>
                  <a:srgbClr val="173F36"/>
                </a:solidFill>
              </a:defRPr>
            </a:lvl6pPr>
            <a:lvl7pPr>
              <a:defRPr sz="1425" b="1">
                <a:solidFill>
                  <a:srgbClr val="173F36"/>
                </a:solidFill>
              </a:defRPr>
            </a:lvl7pPr>
            <a:lvl8pPr>
              <a:defRPr sz="1425" b="1">
                <a:solidFill>
                  <a:srgbClr val="173F36"/>
                </a:solidFill>
              </a:defRPr>
            </a:lvl8pPr>
            <a:lvl9pPr>
              <a:defRPr sz="1425" b="1">
                <a:solidFill>
                  <a:srgbClr val="173F36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3F36"/>
                </a:solidFill>
              </a:defRPr>
            </a:pPr>
            <a:r>
              <a:rPr sz="1425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pPr>
              <a:defRPr sz="1425" b="1">
                <a:solidFill>
                  <a:srgbClr val="173F36"/>
                </a:solidFill>
              </a:defRPr>
            </a:pPr>
            <a:r>
              <a:rPr sz="1425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+ frontend</a:t>
            </a:r>
          </a:p>
        </p:txBody>
      </p:sp>
      <p:sp>
        <p:nvSpPr>
          <p:cNvPr id="27" name="cloud-sql">
            <a:extLst xmlns:a="http://schemas.openxmlformats.org/drawingml/2006/main">
              <a:ext uri="{FF2B5EF4-FFF2-40B4-BE49-F238E27FC236}">
                <a16:creationId xmlns:a16="http://schemas.microsoft.com/office/drawing/2014/main" id="{053582D9-E668-47C7-94F0-43EA0BB9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71975"/>
            <a:ext cx="21526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4EDF5"/>
          </a:solidFill>
          <a:ln xmlns:a="http://schemas.openxmlformats.org/drawingml/2006/main" w="9525">
            <a:solidFill>
              <a:srgbClr val="9AAFA5"/>
            </a:solidFill>
          </a:ln>
        </p:spPr>
      </p:sp>
      <p:sp>
        <p:nvSpPr>
          <p:cNvPr id="28" name="db-label">
            <a:extLst xmlns:a="http://schemas.openxmlformats.org/drawingml/2006/main">
              <a:ext uri="{FF2B5EF4-FFF2-40B4-BE49-F238E27FC236}">
                <a16:creationId xmlns:a16="http://schemas.microsoft.com/office/drawing/2014/main" id="{05C23201-A0DA-4368-BBCF-84BEDBBB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533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1">
                <a:solidFill>
                  <a:srgbClr val="173F36"/>
                </a:solidFill>
              </a:defRPr>
            </a:defPPr>
            <a:lvl1pPr>
              <a:defRPr sz="1725" b="1">
                <a:solidFill>
                  <a:srgbClr val="173F36"/>
                </a:solidFill>
              </a:defRPr>
            </a:lvl1pPr>
            <a:lvl2pPr>
              <a:defRPr sz="1725" b="1">
                <a:solidFill>
                  <a:srgbClr val="173F36"/>
                </a:solidFill>
              </a:defRPr>
            </a:lvl2pPr>
            <a:lvl3pPr>
              <a:defRPr sz="1725" b="1">
                <a:solidFill>
                  <a:srgbClr val="173F36"/>
                </a:solidFill>
              </a:defRPr>
            </a:lvl3pPr>
            <a:lvl4pPr>
              <a:defRPr sz="1725" b="1">
                <a:solidFill>
                  <a:srgbClr val="173F36"/>
                </a:solidFill>
              </a:defRPr>
            </a:lvl4pPr>
            <a:lvl5pPr>
              <a:defRPr sz="1725" b="1">
                <a:solidFill>
                  <a:srgbClr val="173F36"/>
                </a:solidFill>
              </a:defRPr>
            </a:lvl5pPr>
            <a:lvl6pPr>
              <a:defRPr sz="1725" b="1">
                <a:solidFill>
                  <a:srgbClr val="173F36"/>
                </a:solidFill>
              </a:defRPr>
            </a:lvl6pPr>
            <a:lvl7pPr>
              <a:defRPr sz="1725" b="1">
                <a:solidFill>
                  <a:srgbClr val="173F36"/>
                </a:solidFill>
              </a:defRPr>
            </a:lvl7pPr>
            <a:lvl8pPr>
              <a:defRPr sz="1725" b="1">
                <a:solidFill>
                  <a:srgbClr val="173F36"/>
                </a:solidFill>
              </a:defRPr>
            </a:lvl8pPr>
            <a:lvl9pPr>
              <a:defRPr sz="1725" b="1">
                <a:solidFill>
                  <a:srgbClr val="173F36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3F36"/>
                </a:solidFill>
              </a:defRPr>
            </a:pPr>
            <a:r>
              <a:rPr sz="1725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Cloud SQL</a:t>
            </a:r>
          </a:p>
        </p:txBody>
      </p:sp>
      <p:sp>
        <p:nvSpPr>
          <p:cNvPr id="29" name="db-sub">
            <a:extLst xmlns:a="http://schemas.openxmlformats.org/drawingml/2006/main">
              <a:ext uri="{FF2B5EF4-FFF2-40B4-BE49-F238E27FC236}">
                <a16:creationId xmlns:a16="http://schemas.microsoft.com/office/drawing/2014/main" id="{50A8B3B8-0D44-4E78-AB04-C4C74100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9339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0">
                <a:solidFill>
                  <a:srgbClr val="173F36"/>
                </a:solidFill>
              </a:defRPr>
            </a:defPPr>
            <a:lvl1pPr>
              <a:defRPr sz="1425" b="0">
                <a:solidFill>
                  <a:srgbClr val="173F36"/>
                </a:solidFill>
              </a:defRPr>
            </a:lvl1pPr>
            <a:lvl2pPr>
              <a:defRPr sz="1425" b="0">
                <a:solidFill>
                  <a:srgbClr val="173F36"/>
                </a:solidFill>
              </a:defRPr>
            </a:lvl2pPr>
            <a:lvl3pPr>
              <a:defRPr sz="1425" b="0">
                <a:solidFill>
                  <a:srgbClr val="173F36"/>
                </a:solidFill>
              </a:defRPr>
            </a:lvl3pPr>
            <a:lvl4pPr>
              <a:defRPr sz="1425" b="0">
                <a:solidFill>
                  <a:srgbClr val="173F36"/>
                </a:solidFill>
              </a:defRPr>
            </a:lvl4pPr>
            <a:lvl5pPr>
              <a:defRPr sz="1425" b="0">
                <a:solidFill>
                  <a:srgbClr val="173F36"/>
                </a:solidFill>
              </a:defRPr>
            </a:lvl5pPr>
            <a:lvl6pPr>
              <a:defRPr sz="1425" b="0">
                <a:solidFill>
                  <a:srgbClr val="173F36"/>
                </a:solidFill>
              </a:defRPr>
            </a:lvl6pPr>
            <a:lvl7pPr>
              <a:defRPr sz="1425" b="0">
                <a:solidFill>
                  <a:srgbClr val="173F36"/>
                </a:solidFill>
              </a:defRPr>
            </a:lvl7pPr>
            <a:lvl8pPr>
              <a:defRPr sz="1425" b="0">
                <a:solidFill>
                  <a:srgbClr val="173F36"/>
                </a:solidFill>
              </a:defRPr>
            </a:lvl8pPr>
            <a:lvl9pPr>
              <a:defRPr sz="1425" b="0">
                <a:solidFill>
                  <a:srgbClr val="173F36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3F36"/>
                </a:solidFill>
              </a:defRPr>
            </a:pPr>
            <a:r>
              <a:rPr sz="1425" b="0">
                <a:solidFill>
                  <a:srgbClr val="173F36"/>
                </a:solidFill>
                <a:latin typeface="Arial"/>
                <a:ea typeface="Arial"/>
                <a:cs typeface="Arial"/>
              </a:rPr>
              <a:t>Private PostgreSQL</a:t>
            </a:r>
          </a:p>
        </p:txBody>
      </p:sp>
      <p:sp>
        <p:nvSpPr>
          <p:cNvPr id="30" name="cloud-storage">
            <a:extLst xmlns:a="http://schemas.openxmlformats.org/drawingml/2006/main">
              <a:ext uri="{FF2B5EF4-FFF2-40B4-BE49-F238E27FC236}">
                <a16:creationId xmlns:a16="http://schemas.microsoft.com/office/drawing/2014/main" id="{2FDBD22E-E9DD-4719-8319-BC5F0EBD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71975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4EDF5"/>
          </a:solidFill>
          <a:ln xmlns:a="http://schemas.openxmlformats.org/drawingml/2006/main" w="9525">
            <a:solidFill>
              <a:srgbClr val="9AAFA5"/>
            </a:solidFill>
          </a:ln>
        </p:spPr>
      </p:sp>
      <p:sp>
        <p:nvSpPr>
          <p:cNvPr id="31" name="storage-label">
            <a:extLst xmlns:a="http://schemas.openxmlformats.org/drawingml/2006/main">
              <a:ext uri="{FF2B5EF4-FFF2-40B4-BE49-F238E27FC236}">
                <a16:creationId xmlns:a16="http://schemas.microsoft.com/office/drawing/2014/main" id="{EA6E1059-4290-4205-A65E-E598102A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533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1">
                <a:solidFill>
                  <a:srgbClr val="173F36"/>
                </a:solidFill>
              </a:defRPr>
            </a:defPPr>
            <a:lvl1pPr>
              <a:defRPr sz="1725" b="1">
                <a:solidFill>
                  <a:srgbClr val="173F36"/>
                </a:solidFill>
              </a:defRPr>
            </a:lvl1pPr>
            <a:lvl2pPr>
              <a:defRPr sz="1725" b="1">
                <a:solidFill>
                  <a:srgbClr val="173F36"/>
                </a:solidFill>
              </a:defRPr>
            </a:lvl2pPr>
            <a:lvl3pPr>
              <a:defRPr sz="1725" b="1">
                <a:solidFill>
                  <a:srgbClr val="173F36"/>
                </a:solidFill>
              </a:defRPr>
            </a:lvl3pPr>
            <a:lvl4pPr>
              <a:defRPr sz="1725" b="1">
                <a:solidFill>
                  <a:srgbClr val="173F36"/>
                </a:solidFill>
              </a:defRPr>
            </a:lvl4pPr>
            <a:lvl5pPr>
              <a:defRPr sz="1725" b="1">
                <a:solidFill>
                  <a:srgbClr val="173F36"/>
                </a:solidFill>
              </a:defRPr>
            </a:lvl5pPr>
            <a:lvl6pPr>
              <a:defRPr sz="1725" b="1">
                <a:solidFill>
                  <a:srgbClr val="173F36"/>
                </a:solidFill>
              </a:defRPr>
            </a:lvl6pPr>
            <a:lvl7pPr>
              <a:defRPr sz="1725" b="1">
                <a:solidFill>
                  <a:srgbClr val="173F36"/>
                </a:solidFill>
              </a:defRPr>
            </a:lvl7pPr>
            <a:lvl8pPr>
              <a:defRPr sz="1725" b="1">
                <a:solidFill>
                  <a:srgbClr val="173F36"/>
                </a:solidFill>
              </a:defRPr>
            </a:lvl8pPr>
            <a:lvl9pPr>
              <a:defRPr sz="1725" b="1">
                <a:solidFill>
                  <a:srgbClr val="173F36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3F36"/>
                </a:solidFill>
              </a:defRPr>
            </a:pPr>
            <a:r>
              <a:rPr sz="1725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Cloud Storage</a:t>
            </a:r>
          </a:p>
        </p:txBody>
      </p:sp>
      <p:sp>
        <p:nvSpPr>
          <p:cNvPr id="32" name="storage-sub">
            <a:extLst xmlns:a="http://schemas.openxmlformats.org/drawingml/2006/main">
              <a:ext uri="{FF2B5EF4-FFF2-40B4-BE49-F238E27FC236}">
                <a16:creationId xmlns:a16="http://schemas.microsoft.com/office/drawing/2014/main" id="{34166660-9CF0-4E94-A9F6-1FB01FFB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9339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0">
                <a:solidFill>
                  <a:srgbClr val="173F36"/>
                </a:solidFill>
              </a:defRPr>
            </a:defPPr>
            <a:lvl1pPr>
              <a:defRPr sz="1425" b="0">
                <a:solidFill>
                  <a:srgbClr val="173F36"/>
                </a:solidFill>
              </a:defRPr>
            </a:lvl1pPr>
            <a:lvl2pPr>
              <a:defRPr sz="1425" b="0">
                <a:solidFill>
                  <a:srgbClr val="173F36"/>
                </a:solidFill>
              </a:defRPr>
            </a:lvl2pPr>
            <a:lvl3pPr>
              <a:defRPr sz="1425" b="0">
                <a:solidFill>
                  <a:srgbClr val="173F36"/>
                </a:solidFill>
              </a:defRPr>
            </a:lvl3pPr>
            <a:lvl4pPr>
              <a:defRPr sz="1425" b="0">
                <a:solidFill>
                  <a:srgbClr val="173F36"/>
                </a:solidFill>
              </a:defRPr>
            </a:lvl4pPr>
            <a:lvl5pPr>
              <a:defRPr sz="1425" b="0">
                <a:solidFill>
                  <a:srgbClr val="173F36"/>
                </a:solidFill>
              </a:defRPr>
            </a:lvl5pPr>
            <a:lvl6pPr>
              <a:defRPr sz="1425" b="0">
                <a:solidFill>
                  <a:srgbClr val="173F36"/>
                </a:solidFill>
              </a:defRPr>
            </a:lvl6pPr>
            <a:lvl7pPr>
              <a:defRPr sz="1425" b="0">
                <a:solidFill>
                  <a:srgbClr val="173F36"/>
                </a:solidFill>
              </a:defRPr>
            </a:lvl7pPr>
            <a:lvl8pPr>
              <a:defRPr sz="1425" b="0">
                <a:solidFill>
                  <a:srgbClr val="173F36"/>
                </a:solidFill>
              </a:defRPr>
            </a:lvl8pPr>
            <a:lvl9pPr>
              <a:defRPr sz="1425" b="0">
                <a:solidFill>
                  <a:srgbClr val="173F36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3F36"/>
                </a:solidFill>
              </a:defRPr>
            </a:pPr>
            <a:r>
              <a:rPr sz="1425" b="0">
                <a:solidFill>
                  <a:srgbClr val="173F36"/>
                </a:solidFill>
                <a:latin typeface="Arial"/>
                <a:ea typeface="Arial"/>
                <a:cs typeface="Arial"/>
              </a:rPr>
              <a:t>Private uploads</a:t>
            </a:r>
          </a:p>
        </p:txBody>
      </p:sp>
      <p:sp>
        <p:nvSpPr>
          <p:cNvPr id="35" name="ingress-explanation">
            <a:extLst xmlns:a="http://schemas.openxmlformats.org/drawingml/2006/main">
              <a:ext uri="{FF2B5EF4-FFF2-40B4-BE49-F238E27FC236}">
                <a16:creationId xmlns:a16="http://schemas.microsoft.com/office/drawing/2014/main" id="{44C059FC-E5CC-4D5D-A0A8-3134F750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5667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173F36"/>
                </a:solidFill>
              </a:defRPr>
            </a:defPPr>
            <a:lvl1pPr>
              <a:defRPr sz="1725" b="0">
                <a:solidFill>
                  <a:srgbClr val="173F36"/>
                </a:solidFill>
              </a:defRPr>
            </a:lvl1pPr>
            <a:lvl2pPr>
              <a:defRPr sz="1725" b="0">
                <a:solidFill>
                  <a:srgbClr val="173F36"/>
                </a:solidFill>
              </a:defRPr>
            </a:lvl2pPr>
            <a:lvl3pPr>
              <a:defRPr sz="1725" b="0">
                <a:solidFill>
                  <a:srgbClr val="173F36"/>
                </a:solidFill>
              </a:defRPr>
            </a:lvl3pPr>
            <a:lvl4pPr>
              <a:defRPr sz="1725" b="0">
                <a:solidFill>
                  <a:srgbClr val="173F36"/>
                </a:solidFill>
              </a:defRPr>
            </a:lvl4pPr>
            <a:lvl5pPr>
              <a:defRPr sz="1725" b="0">
                <a:solidFill>
                  <a:srgbClr val="173F36"/>
                </a:solidFill>
              </a:defRPr>
            </a:lvl5pPr>
            <a:lvl6pPr>
              <a:defRPr sz="1725" b="0">
                <a:solidFill>
                  <a:srgbClr val="173F36"/>
                </a:solidFill>
              </a:defRPr>
            </a:lvl6pPr>
            <a:lvl7pPr>
              <a:defRPr sz="1725" b="0">
                <a:solidFill>
                  <a:srgbClr val="173F36"/>
                </a:solidFill>
              </a:defRPr>
            </a:lvl7pPr>
            <a:lvl8pPr>
              <a:defRPr sz="1725" b="0">
                <a:solidFill>
                  <a:srgbClr val="173F36"/>
                </a:solidFill>
              </a:defRPr>
            </a:lvl8pPr>
            <a:lvl9pPr>
              <a:defRPr sz="1725" b="0">
                <a:solidFill>
                  <a:srgbClr val="173F3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F36"/>
                </a:solidFill>
              </a:defRPr>
            </a:pPr>
            <a:r>
              <a:rPr sz="1725" b="0">
                <a:solidFill>
                  <a:srgbClr val="173F36"/>
                </a:solidFill>
                <a:latin typeface="Arial"/>
                <a:ea typeface="Arial"/>
                <a:cs typeface="Arial"/>
              </a:rPr>
              <a:t>Ingress configures the load balancer;</a:t>
            </a:r>
          </a:p>
          <a:p xmlns:a="http://schemas.openxmlformats.org/drawingml/2006/main">
            <a:pPr>
              <a:defRPr sz="1725" b="0">
                <a:solidFill>
                  <a:srgbClr val="173F36"/>
                </a:solidFill>
              </a:defRPr>
            </a:pPr>
            <a:r>
              <a:rPr sz="1725" b="0">
                <a:solidFill>
                  <a:srgbClr val="173F36"/>
                </a:solidFill>
                <a:latin typeface="Arial"/>
                <a:ea typeface="Arial"/>
                <a:cs typeface="Arial"/>
              </a:rPr>
              <a:t>NEGs connect it to ready pod endpoints.</a:t>
            </a:r>
          </a:p>
        </p:txBody>
      </p:sp>
      <p:sp>
        <p:nvSpPr>
          <p:cNvPr id="36" name="controls">
            <a:extLst xmlns:a="http://schemas.openxmlformats.org/drawingml/2006/main">
              <a:ext uri="{FF2B5EF4-FFF2-40B4-BE49-F238E27FC236}">
                <a16:creationId xmlns:a16="http://schemas.microsoft.com/office/drawing/2014/main" id="{8DCE4AFD-AC16-4434-BE58-38299604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150"/>
            <a:ext cx="609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173F36"/>
                </a:solidFill>
              </a:defRPr>
            </a:defPPr>
            <a:lvl1pPr>
              <a:defRPr sz="1575" b="0">
                <a:solidFill>
                  <a:srgbClr val="173F36"/>
                </a:solidFill>
              </a:defRPr>
            </a:lvl1pPr>
            <a:lvl2pPr>
              <a:defRPr sz="1575" b="0">
                <a:solidFill>
                  <a:srgbClr val="173F36"/>
                </a:solidFill>
              </a:defRPr>
            </a:lvl2pPr>
            <a:lvl3pPr>
              <a:defRPr sz="1575" b="0">
                <a:solidFill>
                  <a:srgbClr val="173F36"/>
                </a:solidFill>
              </a:defRPr>
            </a:lvl3pPr>
            <a:lvl4pPr>
              <a:defRPr sz="1575" b="0">
                <a:solidFill>
                  <a:srgbClr val="173F36"/>
                </a:solidFill>
              </a:defRPr>
            </a:lvl4pPr>
            <a:lvl5pPr>
              <a:defRPr sz="1575" b="0">
                <a:solidFill>
                  <a:srgbClr val="173F36"/>
                </a:solidFill>
              </a:defRPr>
            </a:lvl5pPr>
            <a:lvl6pPr>
              <a:defRPr sz="1575" b="0">
                <a:solidFill>
                  <a:srgbClr val="173F36"/>
                </a:solidFill>
              </a:defRPr>
            </a:lvl6pPr>
            <a:lvl7pPr>
              <a:defRPr sz="1575" b="0">
                <a:solidFill>
                  <a:srgbClr val="173F36"/>
                </a:solidFill>
              </a:defRPr>
            </a:lvl7pPr>
            <a:lvl8pPr>
              <a:defRPr sz="1575" b="0">
                <a:solidFill>
                  <a:srgbClr val="173F36"/>
                </a:solidFill>
              </a:defRPr>
            </a:lvl8pPr>
            <a:lvl9pPr>
              <a:defRPr sz="1575" b="0">
                <a:solidFill>
                  <a:srgbClr val="173F36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F36"/>
                </a:solidFill>
              </a:defRPr>
            </a:pPr>
            <a:r>
              <a:rPr sz="1575" b="0">
                <a:solidFill>
                  <a:srgbClr val="173F36"/>
                </a:solidFill>
                <a:latin typeface="Arial"/>
                <a:ea typeface="Arial"/>
                <a:cs typeface="Arial"/>
              </a:rPr>
              <a:t>HPA: 2–4 replicas  |  PDB: minimum 1 available</a:t>
            </a:r>
          </a:p>
          <a:p xmlns:a="http://schemas.openxmlformats.org/drawingml/2006/main">
            <a:pPr>
              <a:defRPr sz="1575" b="0">
                <a:solidFill>
                  <a:srgbClr val="173F36"/>
                </a:solidFill>
              </a:defRPr>
            </a:pPr>
            <a:r>
              <a:rPr sz="1575" b="0">
                <a:solidFill>
                  <a:srgbClr val="173F36"/>
                </a:solidFill>
                <a:latin typeface="Arial"/>
                <a:ea typeface="Arial"/>
                <a:cs typeface="Arial"/>
              </a:rPr>
              <a:t>Workload Identity grants access to managed services.</a:t>
            </a:r>
          </a:p>
        </p:txBody>
      </p:sp>
    </p:spTree>
    <p:extLst>
      <p:ext uri="{BB962C8B-B14F-4D97-AF65-F5344CB8AC3E}">
        <p14:creationId xmlns:p14="http://schemas.microsoft.com/office/powerpoint/2010/main" val="23951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9A497B78-78A3-47B3-8D73-CE8F8D61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3F36"/>
                </a:solidFill>
              </a:defRPr>
            </a:defPPr>
            <a:lvl1pPr>
              <a:defRPr sz="3150" b="1">
                <a:solidFill>
                  <a:srgbClr val="173F36"/>
                </a:solidFill>
              </a:defRPr>
            </a:lvl1pPr>
            <a:lvl2pPr>
              <a:defRPr sz="3150" b="1">
                <a:solidFill>
                  <a:srgbClr val="173F36"/>
                </a:solidFill>
              </a:defRPr>
            </a:lvl2pPr>
            <a:lvl3pPr>
              <a:defRPr sz="3150" b="1">
                <a:solidFill>
                  <a:srgbClr val="173F36"/>
                </a:solidFill>
              </a:defRPr>
            </a:lvl3pPr>
            <a:lvl4pPr>
              <a:defRPr sz="3150" b="1">
                <a:solidFill>
                  <a:srgbClr val="173F36"/>
                </a:solidFill>
              </a:defRPr>
            </a:lvl4pPr>
            <a:lvl5pPr>
              <a:defRPr sz="3150" b="1">
                <a:solidFill>
                  <a:srgbClr val="173F36"/>
                </a:solidFill>
              </a:defRPr>
            </a:lvl5pPr>
            <a:lvl6pPr>
              <a:defRPr sz="3150" b="1">
                <a:solidFill>
                  <a:srgbClr val="173F36"/>
                </a:solidFill>
              </a:defRPr>
            </a:lvl6pPr>
            <a:lvl7pPr>
              <a:defRPr sz="3150" b="1">
                <a:solidFill>
                  <a:srgbClr val="173F36"/>
                </a:solidFill>
              </a:defRPr>
            </a:lvl7pPr>
            <a:lvl8pPr>
              <a:defRPr sz="3150" b="1">
                <a:solidFill>
                  <a:srgbClr val="173F36"/>
                </a:solidFill>
              </a:defRPr>
            </a:lvl8pPr>
            <a:lvl9pPr>
              <a:defRPr sz="3150" b="1">
                <a:solidFill>
                  <a:srgbClr val="173F36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F36"/>
                </a:solidFill>
              </a:defRPr>
            </a:pPr>
            <a:r>
              <a:rPr sz="315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Health probes answer different questions</a:t>
            </a:r>
          </a:p>
        </p:txBody>
      </p:sp>
      <p:sp>
        <p:nvSpPr>
          <p:cNvPr id="2" name="group">
            <a:extLst xmlns:a="http://schemas.openxmlformats.org/drawingml/2006/main">
              <a:ext uri="{FF2B5EF4-FFF2-40B4-BE49-F238E27FC236}">
                <a16:creationId xmlns:a16="http://schemas.microsoft.com/office/drawing/2014/main" id="{DE376DB3-0FA2-4BD7-A270-AA5FCC1E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51645C"/>
                </a:solidFill>
              </a:defRPr>
            </a:defPPr>
            <a:lvl1pPr>
              <a:defRPr sz="1200" b="0">
                <a:solidFill>
                  <a:srgbClr val="51645C"/>
                </a:solidFill>
              </a:defRPr>
            </a:lvl1pPr>
            <a:lvl2pPr>
              <a:defRPr sz="1200" b="0">
                <a:solidFill>
                  <a:srgbClr val="51645C"/>
                </a:solidFill>
              </a:defRPr>
            </a:lvl2pPr>
            <a:lvl3pPr>
              <a:defRPr sz="1200" b="0">
                <a:solidFill>
                  <a:srgbClr val="51645C"/>
                </a:solidFill>
              </a:defRPr>
            </a:lvl3pPr>
            <a:lvl4pPr>
              <a:defRPr sz="1200" b="0">
                <a:solidFill>
                  <a:srgbClr val="51645C"/>
                </a:solidFill>
              </a:defRPr>
            </a:lvl4pPr>
            <a:lvl5pPr>
              <a:defRPr sz="1200" b="0">
                <a:solidFill>
                  <a:srgbClr val="51645C"/>
                </a:solidFill>
              </a:defRPr>
            </a:lvl5pPr>
            <a:lvl6pPr>
              <a:defRPr sz="1200" b="0">
                <a:solidFill>
                  <a:srgbClr val="51645C"/>
                </a:solidFill>
              </a:defRPr>
            </a:lvl6pPr>
            <a:lvl7pPr>
              <a:defRPr sz="1200" b="0">
                <a:solidFill>
                  <a:srgbClr val="51645C"/>
                </a:solidFill>
              </a:defRPr>
            </a:lvl7pPr>
            <a:lvl8pPr>
              <a:defRPr sz="1200" b="0">
                <a:solidFill>
                  <a:srgbClr val="51645C"/>
                </a:solidFill>
              </a:defRPr>
            </a:lvl8pPr>
            <a:lvl9pPr>
              <a:defRPr sz="1200" b="0">
                <a:solidFill>
                  <a:srgbClr val="51645C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45C"/>
                </a:solidFill>
              </a:defRPr>
            </a:pPr>
            <a:r>
              <a:rPr sz="1200" b="0">
                <a:solidFill>
                  <a:srgbClr val="51645C"/>
                </a:solidFill>
                <a:latin typeface="Arial"/>
                <a:ea typeface="Arial"/>
                <a:cs typeface="Arial"/>
              </a:rPr>
              <a:t>MetroAI · Group 2 · Milestone 5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06FDA769-9421-42F5-B89A-A53D856A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51645C"/>
                </a:solidFill>
              </a:defRPr>
            </a:defPPr>
            <a:lvl1pPr>
              <a:defRPr sz="1200" b="0">
                <a:solidFill>
                  <a:srgbClr val="51645C"/>
                </a:solidFill>
              </a:defRPr>
            </a:lvl1pPr>
            <a:lvl2pPr>
              <a:defRPr sz="1200" b="0">
                <a:solidFill>
                  <a:srgbClr val="51645C"/>
                </a:solidFill>
              </a:defRPr>
            </a:lvl2pPr>
            <a:lvl3pPr>
              <a:defRPr sz="1200" b="0">
                <a:solidFill>
                  <a:srgbClr val="51645C"/>
                </a:solidFill>
              </a:defRPr>
            </a:lvl3pPr>
            <a:lvl4pPr>
              <a:defRPr sz="1200" b="0">
                <a:solidFill>
                  <a:srgbClr val="51645C"/>
                </a:solidFill>
              </a:defRPr>
            </a:lvl4pPr>
            <a:lvl5pPr>
              <a:defRPr sz="1200" b="0">
                <a:solidFill>
                  <a:srgbClr val="51645C"/>
                </a:solidFill>
              </a:defRPr>
            </a:lvl5pPr>
            <a:lvl6pPr>
              <a:defRPr sz="1200" b="0">
                <a:solidFill>
                  <a:srgbClr val="51645C"/>
                </a:solidFill>
              </a:defRPr>
            </a:lvl6pPr>
            <a:lvl7pPr>
              <a:defRPr sz="1200" b="0">
                <a:solidFill>
                  <a:srgbClr val="51645C"/>
                </a:solidFill>
              </a:defRPr>
            </a:lvl7pPr>
            <a:lvl8pPr>
              <a:defRPr sz="1200" b="0">
                <a:solidFill>
                  <a:srgbClr val="51645C"/>
                </a:solidFill>
              </a:defRPr>
            </a:lvl8pPr>
            <a:lvl9pPr>
              <a:defRPr sz="1200" b="0">
                <a:solidFill>
                  <a:srgbClr val="51645C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45C"/>
                </a:solidFill>
              </a:defRPr>
            </a:pPr>
            <a:r>
              <a:rPr sz="1200" b="0">
                <a:solidFill>
                  <a:srgbClr val="51645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7A9D812A-4F3D-4D43-A55B-4100EF2C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173F36"/>
                </a:solidFill>
              </a:defRPr>
            </a:defPPr>
            <a:lvl1pPr>
              <a:defRPr sz="1875" b="0">
                <a:solidFill>
                  <a:srgbClr val="173F36"/>
                </a:solidFill>
              </a:defRPr>
            </a:lvl1pPr>
            <a:lvl2pPr>
              <a:defRPr sz="1875" b="0">
                <a:solidFill>
                  <a:srgbClr val="173F36"/>
                </a:solidFill>
              </a:defRPr>
            </a:lvl2pPr>
            <a:lvl3pPr>
              <a:defRPr sz="1875" b="0">
                <a:solidFill>
                  <a:srgbClr val="173F36"/>
                </a:solidFill>
              </a:defRPr>
            </a:lvl3pPr>
            <a:lvl4pPr>
              <a:defRPr sz="1875" b="0">
                <a:solidFill>
                  <a:srgbClr val="173F36"/>
                </a:solidFill>
              </a:defRPr>
            </a:lvl4pPr>
            <a:lvl5pPr>
              <a:defRPr sz="1875" b="0">
                <a:solidFill>
                  <a:srgbClr val="173F36"/>
                </a:solidFill>
              </a:defRPr>
            </a:lvl5pPr>
            <a:lvl6pPr>
              <a:defRPr sz="1875" b="0">
                <a:solidFill>
                  <a:srgbClr val="173F36"/>
                </a:solidFill>
              </a:defRPr>
            </a:lvl6pPr>
            <a:lvl7pPr>
              <a:defRPr sz="1875" b="0">
                <a:solidFill>
                  <a:srgbClr val="173F36"/>
                </a:solidFill>
              </a:defRPr>
            </a:lvl7pPr>
            <a:lvl8pPr>
              <a:defRPr sz="1875" b="0">
                <a:solidFill>
                  <a:srgbClr val="173F36"/>
                </a:solidFill>
              </a:defRPr>
            </a:lvl8pPr>
            <a:lvl9pPr>
              <a:defRPr sz="1875" b="0">
                <a:solidFill>
                  <a:srgbClr val="173F36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36"/>
                </a:solidFill>
              </a:defRPr>
            </a:pPr>
            <a:r>
              <a:rPr sz="1875" b="0">
                <a:solidFill>
                  <a:srgbClr val="173F36"/>
                </a:solidFill>
                <a:latin typeface="Arial"/>
                <a:ea typeface="Arial"/>
                <a:cs typeface="Arial"/>
              </a:rPr>
              <a:t>A database outage removes traffic without repeatedly restarting the app.</a:t>
            </a:r>
          </a:p>
        </p:txBody>
      </p:sp>
      <p:sp>
        <p:nvSpPr>
          <p:cNvPr id="5" name="live-title">
            <a:extLst xmlns:a="http://schemas.openxmlformats.org/drawingml/2006/main">
              <a:ext uri="{FF2B5EF4-FFF2-40B4-BE49-F238E27FC236}">
                <a16:creationId xmlns:a16="http://schemas.microsoft.com/office/drawing/2014/main" id="{7AA61F1C-00AF-4261-A445-93F72B98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1">
                <a:solidFill>
                  <a:srgbClr val="173F36"/>
                </a:solidFill>
              </a:defRPr>
            </a:defPPr>
            <a:lvl1pPr>
              <a:defRPr sz="2025" b="1">
                <a:solidFill>
                  <a:srgbClr val="173F36"/>
                </a:solidFill>
              </a:defRPr>
            </a:lvl1pPr>
            <a:lvl2pPr>
              <a:defRPr sz="2025" b="1">
                <a:solidFill>
                  <a:srgbClr val="173F36"/>
                </a:solidFill>
              </a:defRPr>
            </a:lvl2pPr>
            <a:lvl3pPr>
              <a:defRPr sz="2025" b="1">
                <a:solidFill>
                  <a:srgbClr val="173F36"/>
                </a:solidFill>
              </a:defRPr>
            </a:lvl3pPr>
            <a:lvl4pPr>
              <a:defRPr sz="2025" b="1">
                <a:solidFill>
                  <a:srgbClr val="173F36"/>
                </a:solidFill>
              </a:defRPr>
            </a:lvl4pPr>
            <a:lvl5pPr>
              <a:defRPr sz="2025" b="1">
                <a:solidFill>
                  <a:srgbClr val="173F36"/>
                </a:solidFill>
              </a:defRPr>
            </a:lvl5pPr>
            <a:lvl6pPr>
              <a:defRPr sz="2025" b="1">
                <a:solidFill>
                  <a:srgbClr val="173F36"/>
                </a:solidFill>
              </a:defRPr>
            </a:lvl6pPr>
            <a:lvl7pPr>
              <a:defRPr sz="2025" b="1">
                <a:solidFill>
                  <a:srgbClr val="173F36"/>
                </a:solidFill>
              </a:defRPr>
            </a:lvl7pPr>
            <a:lvl8pPr>
              <a:defRPr sz="2025" b="1">
                <a:solidFill>
                  <a:srgbClr val="173F36"/>
                </a:solidFill>
              </a:defRPr>
            </a:lvl8pPr>
            <a:lvl9pPr>
              <a:defRPr sz="2025" b="1">
                <a:solidFill>
                  <a:srgbClr val="173F36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3F36"/>
                </a:solidFill>
              </a:defRPr>
            </a:pPr>
            <a:r>
              <a:rPr sz="2025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Liveness: is the process responsive?</a:t>
            </a:r>
          </a:p>
        </p:txBody>
      </p:sp>
      <p:sp>
        <p:nvSpPr>
          <p:cNvPr id="6" name="live-path">
            <a:extLst xmlns:a="http://schemas.openxmlformats.org/drawingml/2006/main">
              <a:ext uri="{FF2B5EF4-FFF2-40B4-BE49-F238E27FC236}">
                <a16:creationId xmlns:a16="http://schemas.microsoft.com/office/drawing/2014/main" id="{F861C1E4-0765-4656-B9B3-AA6384A5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176A56"/>
                </a:solidFill>
              </a:defRPr>
            </a:defPPr>
            <a:lvl1pPr>
              <a:defRPr sz="2100" b="1">
                <a:solidFill>
                  <a:srgbClr val="176A56"/>
                </a:solidFill>
              </a:defRPr>
            </a:lvl1pPr>
            <a:lvl2pPr>
              <a:defRPr sz="2100" b="1">
                <a:solidFill>
                  <a:srgbClr val="176A56"/>
                </a:solidFill>
              </a:defRPr>
            </a:lvl2pPr>
            <a:lvl3pPr>
              <a:defRPr sz="2100" b="1">
                <a:solidFill>
                  <a:srgbClr val="176A56"/>
                </a:solidFill>
              </a:defRPr>
            </a:lvl3pPr>
            <a:lvl4pPr>
              <a:defRPr sz="2100" b="1">
                <a:solidFill>
                  <a:srgbClr val="176A56"/>
                </a:solidFill>
              </a:defRPr>
            </a:lvl4pPr>
            <a:lvl5pPr>
              <a:defRPr sz="2100" b="1">
                <a:solidFill>
                  <a:srgbClr val="176A56"/>
                </a:solidFill>
              </a:defRPr>
            </a:lvl5pPr>
            <a:lvl6pPr>
              <a:defRPr sz="2100" b="1">
                <a:solidFill>
                  <a:srgbClr val="176A56"/>
                </a:solidFill>
              </a:defRPr>
            </a:lvl6pPr>
            <a:lvl7pPr>
              <a:defRPr sz="2100" b="1">
                <a:solidFill>
                  <a:srgbClr val="176A56"/>
                </a:solidFill>
              </a:defRPr>
            </a:lvl7pPr>
            <a:lvl8pPr>
              <a:defRPr sz="2100" b="1">
                <a:solidFill>
                  <a:srgbClr val="176A56"/>
                </a:solidFill>
              </a:defRPr>
            </a:lvl8pPr>
            <a:lvl9pPr>
              <a:defRPr sz="2100" b="1">
                <a:solidFill>
                  <a:srgbClr val="176A5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6A56"/>
                </a:solidFill>
              </a:defRPr>
            </a:pPr>
            <a:r>
              <a:rPr sz="2100" b="1">
                <a:solidFill>
                  <a:srgbClr val="176A56"/>
                </a:solidFill>
                <a:latin typeface="Arial"/>
                <a:ea typeface="Arial"/>
                <a:cs typeface="Arial"/>
              </a:rPr>
              <a:t>GET /api/health/live</a:t>
            </a:r>
          </a:p>
        </p:txBody>
      </p:sp>
      <p:sp>
        <p:nvSpPr>
          <p:cNvPr id="7" name="live-body">
            <a:extLst xmlns:a="http://schemas.openxmlformats.org/drawingml/2006/main">
              <a:ext uri="{FF2B5EF4-FFF2-40B4-BE49-F238E27FC236}">
                <a16:creationId xmlns:a16="http://schemas.microsoft.com/office/drawing/2014/main" id="{5C402033-BC42-4382-9FB9-3D1A1242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28975"/>
            <a:ext cx="5143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173F36"/>
                </a:solidFill>
              </a:defRPr>
            </a:defPPr>
            <a:lvl1pPr>
              <a:defRPr sz="1800" b="0">
                <a:solidFill>
                  <a:srgbClr val="173F36"/>
                </a:solidFill>
              </a:defRPr>
            </a:lvl1pPr>
            <a:lvl2pPr>
              <a:defRPr sz="1800" b="0">
                <a:solidFill>
                  <a:srgbClr val="173F36"/>
                </a:solidFill>
              </a:defRPr>
            </a:lvl2pPr>
            <a:lvl3pPr>
              <a:defRPr sz="1800" b="0">
                <a:solidFill>
                  <a:srgbClr val="173F36"/>
                </a:solidFill>
              </a:defRPr>
            </a:lvl3pPr>
            <a:lvl4pPr>
              <a:defRPr sz="1800" b="0">
                <a:solidFill>
                  <a:srgbClr val="173F36"/>
                </a:solidFill>
              </a:defRPr>
            </a:lvl4pPr>
            <a:lvl5pPr>
              <a:defRPr sz="1800" b="0">
                <a:solidFill>
                  <a:srgbClr val="173F36"/>
                </a:solidFill>
              </a:defRPr>
            </a:lvl5pPr>
            <a:lvl6pPr>
              <a:defRPr sz="1800" b="0">
                <a:solidFill>
                  <a:srgbClr val="173F36"/>
                </a:solidFill>
              </a:defRPr>
            </a:lvl6pPr>
            <a:lvl7pPr>
              <a:defRPr sz="1800" b="0">
                <a:solidFill>
                  <a:srgbClr val="173F36"/>
                </a:solidFill>
              </a:defRPr>
            </a:lvl7pPr>
            <a:lvl8pPr>
              <a:defRPr sz="1800" b="0">
                <a:solidFill>
                  <a:srgbClr val="173F36"/>
                </a:solidFill>
              </a:defRPr>
            </a:lvl8pPr>
            <a:lvl9pPr>
              <a:defRPr sz="1800" b="0">
                <a:solidFill>
                  <a:srgbClr val="173F3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F36"/>
                </a:solidFill>
              </a:defRPr>
            </a:pPr>
            <a:r>
              <a:rPr sz="1800" b="0">
                <a:solidFill>
                  <a:srgbClr val="173F36"/>
                </a:solidFill>
                <a:latin typeface="Arial"/>
                <a:ea typeface="Arial"/>
                <a:cs typeface="Arial"/>
              </a:rPr>
              <a:t>Returns 200 with status “alive”.</a:t>
            </a:r>
          </a:p>
          <a:p xmlns:a="http://schemas.openxmlformats.org/drawingml/2006/main">
            <a:pPr>
              <a:defRPr sz="1800" b="0">
                <a:solidFill>
                  <a:srgbClr val="173F36"/>
                </a:solidFill>
              </a:defRPr>
            </a:pPr>
            <a:r>
              <a:rPr sz="1800" b="0">
                <a:solidFill>
                  <a:srgbClr val="173F36"/>
                </a:solidFill>
                <a:latin typeface="Arial"/>
                <a:ea typeface="Arial"/>
                <a:cs typeface="Arial"/>
              </a:rPr>
              <a:t>Checks the application only.</a:t>
            </a:r>
          </a:p>
          <a:p xmlns:a="http://schemas.openxmlformats.org/drawingml/2006/main">
            <a:pPr>
              <a:defRPr sz="1800" b="0">
                <a:solidFill>
                  <a:srgbClr val="173F36"/>
                </a:solidFill>
              </a:defRPr>
            </a:pPr>
            <a:r>
              <a:rPr sz="1800" b="0">
                <a:solidFill>
                  <a:srgbClr val="173F36"/>
                </a:solidFill>
                <a:latin typeface="Arial"/>
                <a:ea typeface="Arial"/>
                <a:cs typeface="Arial"/>
              </a:rPr>
              <a:t>No database or external API calls.</a:t>
            </a:r>
          </a:p>
          <a:p xmlns:a="http://schemas.openxmlformats.org/drawingml/2006/main">
            <a:pPr>
              <a:defRPr sz="1800" b="0">
                <a:solidFill>
                  <a:srgbClr val="173F36"/>
                </a:solidFill>
              </a:defRPr>
            </a:pPr>
            <a:r>
              <a:rPr sz="1800" b="0">
                <a:solidFill>
                  <a:srgbClr val="173F36"/>
                </a:solidFill>
                <a:latin typeface="Arial"/>
                <a:ea typeface="Arial"/>
                <a:cs typeface="Arial"/>
              </a:rPr>
              <a:t>Repeated failure restarts the container.</a:t>
            </a:r>
          </a:p>
        </p:txBody>
      </p:sp>
      <p:sp>
        <p:nvSpPr>
          <p:cNvPr id="8" name="ready-title">
            <a:extLst xmlns:a="http://schemas.openxmlformats.org/drawingml/2006/main">
              <a:ext uri="{FF2B5EF4-FFF2-40B4-BE49-F238E27FC236}">
                <a16:creationId xmlns:a16="http://schemas.microsoft.com/office/drawing/2014/main" id="{CABCF843-4397-482F-9724-DACAAF7D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1">
                <a:solidFill>
                  <a:srgbClr val="173F36"/>
                </a:solidFill>
              </a:defRPr>
            </a:defPPr>
            <a:lvl1pPr>
              <a:defRPr sz="2025" b="1">
                <a:solidFill>
                  <a:srgbClr val="173F36"/>
                </a:solidFill>
              </a:defRPr>
            </a:lvl1pPr>
            <a:lvl2pPr>
              <a:defRPr sz="2025" b="1">
                <a:solidFill>
                  <a:srgbClr val="173F36"/>
                </a:solidFill>
              </a:defRPr>
            </a:lvl2pPr>
            <a:lvl3pPr>
              <a:defRPr sz="2025" b="1">
                <a:solidFill>
                  <a:srgbClr val="173F36"/>
                </a:solidFill>
              </a:defRPr>
            </a:lvl3pPr>
            <a:lvl4pPr>
              <a:defRPr sz="2025" b="1">
                <a:solidFill>
                  <a:srgbClr val="173F36"/>
                </a:solidFill>
              </a:defRPr>
            </a:lvl4pPr>
            <a:lvl5pPr>
              <a:defRPr sz="2025" b="1">
                <a:solidFill>
                  <a:srgbClr val="173F36"/>
                </a:solidFill>
              </a:defRPr>
            </a:lvl5pPr>
            <a:lvl6pPr>
              <a:defRPr sz="2025" b="1">
                <a:solidFill>
                  <a:srgbClr val="173F36"/>
                </a:solidFill>
              </a:defRPr>
            </a:lvl6pPr>
            <a:lvl7pPr>
              <a:defRPr sz="2025" b="1">
                <a:solidFill>
                  <a:srgbClr val="173F36"/>
                </a:solidFill>
              </a:defRPr>
            </a:lvl7pPr>
            <a:lvl8pPr>
              <a:defRPr sz="2025" b="1">
                <a:solidFill>
                  <a:srgbClr val="173F36"/>
                </a:solidFill>
              </a:defRPr>
            </a:lvl8pPr>
            <a:lvl9pPr>
              <a:defRPr sz="2025" b="1">
                <a:solidFill>
                  <a:srgbClr val="173F36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3F36"/>
                </a:solidFill>
              </a:defRPr>
            </a:pPr>
            <a:r>
              <a:rPr sz="2025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Readiness: can this pod serve users?</a:t>
            </a:r>
          </a:p>
        </p:txBody>
      </p:sp>
      <p:sp>
        <p:nvSpPr>
          <p:cNvPr id="9" name="ready-path">
            <a:extLst xmlns:a="http://schemas.openxmlformats.org/drawingml/2006/main">
              <a:ext uri="{FF2B5EF4-FFF2-40B4-BE49-F238E27FC236}">
                <a16:creationId xmlns:a16="http://schemas.microsoft.com/office/drawing/2014/main" id="{E754AC25-23FC-4014-A1B5-D9C96EA0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527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176A56"/>
                </a:solidFill>
              </a:defRPr>
            </a:defPPr>
            <a:lvl1pPr>
              <a:defRPr sz="2100" b="1">
                <a:solidFill>
                  <a:srgbClr val="176A56"/>
                </a:solidFill>
              </a:defRPr>
            </a:lvl1pPr>
            <a:lvl2pPr>
              <a:defRPr sz="2100" b="1">
                <a:solidFill>
                  <a:srgbClr val="176A56"/>
                </a:solidFill>
              </a:defRPr>
            </a:lvl2pPr>
            <a:lvl3pPr>
              <a:defRPr sz="2100" b="1">
                <a:solidFill>
                  <a:srgbClr val="176A56"/>
                </a:solidFill>
              </a:defRPr>
            </a:lvl3pPr>
            <a:lvl4pPr>
              <a:defRPr sz="2100" b="1">
                <a:solidFill>
                  <a:srgbClr val="176A56"/>
                </a:solidFill>
              </a:defRPr>
            </a:lvl4pPr>
            <a:lvl5pPr>
              <a:defRPr sz="2100" b="1">
                <a:solidFill>
                  <a:srgbClr val="176A56"/>
                </a:solidFill>
              </a:defRPr>
            </a:lvl5pPr>
            <a:lvl6pPr>
              <a:defRPr sz="2100" b="1">
                <a:solidFill>
                  <a:srgbClr val="176A56"/>
                </a:solidFill>
              </a:defRPr>
            </a:lvl6pPr>
            <a:lvl7pPr>
              <a:defRPr sz="2100" b="1">
                <a:solidFill>
                  <a:srgbClr val="176A56"/>
                </a:solidFill>
              </a:defRPr>
            </a:lvl7pPr>
            <a:lvl8pPr>
              <a:defRPr sz="2100" b="1">
                <a:solidFill>
                  <a:srgbClr val="176A56"/>
                </a:solidFill>
              </a:defRPr>
            </a:lvl8pPr>
            <a:lvl9pPr>
              <a:defRPr sz="2100" b="1">
                <a:solidFill>
                  <a:srgbClr val="176A5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6A56"/>
                </a:solidFill>
              </a:defRPr>
            </a:pPr>
            <a:r>
              <a:rPr sz="2100" b="1">
                <a:solidFill>
                  <a:srgbClr val="176A56"/>
                </a:solidFill>
                <a:latin typeface="Arial"/>
                <a:ea typeface="Arial"/>
                <a:cs typeface="Arial"/>
              </a:rPr>
              <a:t>GET /api/health/ready</a:t>
            </a:r>
          </a:p>
        </p:txBody>
      </p:sp>
      <p:sp>
        <p:nvSpPr>
          <p:cNvPr id="10" name="ready-body">
            <a:extLst xmlns:a="http://schemas.openxmlformats.org/drawingml/2006/main">
              <a:ext uri="{FF2B5EF4-FFF2-40B4-BE49-F238E27FC236}">
                <a16:creationId xmlns:a16="http://schemas.microsoft.com/office/drawing/2014/main" id="{F7C4DA87-E664-419B-AD64-552489F0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28975"/>
            <a:ext cx="5238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173F36"/>
                </a:solidFill>
              </a:defRPr>
            </a:defPPr>
            <a:lvl1pPr>
              <a:defRPr sz="1800" b="0">
                <a:solidFill>
                  <a:srgbClr val="173F36"/>
                </a:solidFill>
              </a:defRPr>
            </a:lvl1pPr>
            <a:lvl2pPr>
              <a:defRPr sz="1800" b="0">
                <a:solidFill>
                  <a:srgbClr val="173F36"/>
                </a:solidFill>
              </a:defRPr>
            </a:lvl2pPr>
            <a:lvl3pPr>
              <a:defRPr sz="1800" b="0">
                <a:solidFill>
                  <a:srgbClr val="173F36"/>
                </a:solidFill>
              </a:defRPr>
            </a:lvl3pPr>
            <a:lvl4pPr>
              <a:defRPr sz="1800" b="0">
                <a:solidFill>
                  <a:srgbClr val="173F36"/>
                </a:solidFill>
              </a:defRPr>
            </a:lvl4pPr>
            <a:lvl5pPr>
              <a:defRPr sz="1800" b="0">
                <a:solidFill>
                  <a:srgbClr val="173F36"/>
                </a:solidFill>
              </a:defRPr>
            </a:lvl5pPr>
            <a:lvl6pPr>
              <a:defRPr sz="1800" b="0">
                <a:solidFill>
                  <a:srgbClr val="173F36"/>
                </a:solidFill>
              </a:defRPr>
            </a:lvl6pPr>
            <a:lvl7pPr>
              <a:defRPr sz="1800" b="0">
                <a:solidFill>
                  <a:srgbClr val="173F36"/>
                </a:solidFill>
              </a:defRPr>
            </a:lvl7pPr>
            <a:lvl8pPr>
              <a:defRPr sz="1800" b="0">
                <a:solidFill>
                  <a:srgbClr val="173F36"/>
                </a:solidFill>
              </a:defRPr>
            </a:lvl8pPr>
            <a:lvl9pPr>
              <a:defRPr sz="1800" b="0">
                <a:solidFill>
                  <a:srgbClr val="173F3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F36"/>
                </a:solidFill>
              </a:defRPr>
            </a:pPr>
            <a:r>
              <a:rPr sz="1800" b="0">
                <a:solidFill>
                  <a:srgbClr val="173F36"/>
                </a:solidFill>
                <a:latin typeface="Arial"/>
                <a:ea typeface="Arial"/>
                <a:cs typeface="Arial"/>
              </a:rPr>
              <a:t>Queries PostgreSQL for transit data.</a:t>
            </a:r>
          </a:p>
          <a:p xmlns:a="http://schemas.openxmlformats.org/drawingml/2006/main">
            <a:pPr>
              <a:defRPr sz="1800" b="0">
                <a:solidFill>
                  <a:srgbClr val="173F36"/>
                </a:solidFill>
              </a:defRPr>
            </a:pPr>
            <a:r>
              <a:rPr sz="1800" b="0">
                <a:solidFill>
                  <a:srgbClr val="173F36"/>
                </a:solidFill>
                <a:latin typeface="Arial"/>
                <a:ea typeface="Arial"/>
                <a:cs typeface="Arial"/>
              </a:rPr>
              <a:t>Returns 200 when data is available.</a:t>
            </a:r>
          </a:p>
          <a:p xmlns:a="http://schemas.openxmlformats.org/drawingml/2006/main">
            <a:pPr>
              <a:defRPr sz="1800" b="0">
                <a:solidFill>
                  <a:srgbClr val="173F36"/>
                </a:solidFill>
              </a:defRPr>
            </a:pPr>
            <a:r>
              <a:rPr sz="1800" b="0">
                <a:solidFill>
                  <a:srgbClr val="173F36"/>
                </a:solidFill>
                <a:latin typeface="Arial"/>
                <a:ea typeface="Arial"/>
                <a:cs typeface="Arial"/>
              </a:rPr>
              <a:t>Returns 503 if the database check fails.</a:t>
            </a:r>
          </a:p>
          <a:p xmlns:a="http://schemas.openxmlformats.org/drawingml/2006/main">
            <a:pPr>
              <a:defRPr sz="1800" b="0">
                <a:solidFill>
                  <a:srgbClr val="173F36"/>
                </a:solidFill>
              </a:defRPr>
            </a:pPr>
            <a:r>
              <a:rPr sz="1800" b="0">
                <a:solidFill>
                  <a:srgbClr val="173F36"/>
                </a:solidFill>
                <a:latin typeface="Arial"/>
                <a:ea typeface="Arial"/>
                <a:cs typeface="Arial"/>
              </a:rPr>
              <a:t>Failure removes the pod from traffic.</a:t>
            </a:r>
          </a:p>
        </p:txBody>
      </p:sp>
      <p:sp>
        <p:nvSpPr>
          <p:cNvPr id="11" name="database-outage">
            <a:extLst xmlns:a="http://schemas.openxmlformats.org/drawingml/2006/main">
              <a:ext uri="{FF2B5EF4-FFF2-40B4-BE49-F238E27FC236}">
                <a16:creationId xmlns:a16="http://schemas.microsoft.com/office/drawing/2014/main" id="{976B56FD-447C-4BC0-B14D-87140614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1049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1EEE7"/>
          </a:solidFill>
          <a:ln xmlns:a="http://schemas.openxmlformats.org/drawingml/2006/main" w="9525">
            <a:solidFill>
              <a:srgbClr val="9AAFA5"/>
            </a:solidFill>
          </a:ln>
        </p:spPr>
      </p:sp>
      <p:sp>
        <p:nvSpPr>
          <p:cNvPr id="12" name="why-different">
            <a:extLst xmlns:a="http://schemas.openxmlformats.org/drawingml/2006/main">
              <a:ext uri="{FF2B5EF4-FFF2-40B4-BE49-F238E27FC236}">
                <a16:creationId xmlns:a16="http://schemas.microsoft.com/office/drawing/2014/main" id="{243DE250-4F3F-4606-BF12-5BCDAC90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1">
                <a:solidFill>
                  <a:srgbClr val="173F36"/>
                </a:solidFill>
              </a:defRPr>
            </a:defPPr>
            <a:lvl1pPr>
              <a:defRPr sz="1725" b="1">
                <a:solidFill>
                  <a:srgbClr val="173F36"/>
                </a:solidFill>
              </a:defRPr>
            </a:lvl1pPr>
            <a:lvl2pPr>
              <a:defRPr sz="1725" b="1">
                <a:solidFill>
                  <a:srgbClr val="173F36"/>
                </a:solidFill>
              </a:defRPr>
            </a:lvl2pPr>
            <a:lvl3pPr>
              <a:defRPr sz="1725" b="1">
                <a:solidFill>
                  <a:srgbClr val="173F36"/>
                </a:solidFill>
              </a:defRPr>
            </a:lvl3pPr>
            <a:lvl4pPr>
              <a:defRPr sz="1725" b="1">
                <a:solidFill>
                  <a:srgbClr val="173F36"/>
                </a:solidFill>
              </a:defRPr>
            </a:lvl4pPr>
            <a:lvl5pPr>
              <a:defRPr sz="1725" b="1">
                <a:solidFill>
                  <a:srgbClr val="173F36"/>
                </a:solidFill>
              </a:defRPr>
            </a:lvl5pPr>
            <a:lvl6pPr>
              <a:defRPr sz="1725" b="1">
                <a:solidFill>
                  <a:srgbClr val="173F36"/>
                </a:solidFill>
              </a:defRPr>
            </a:lvl6pPr>
            <a:lvl7pPr>
              <a:defRPr sz="1725" b="1">
                <a:solidFill>
                  <a:srgbClr val="173F36"/>
                </a:solidFill>
              </a:defRPr>
            </a:lvl7pPr>
            <a:lvl8pPr>
              <a:defRPr sz="1725" b="1">
                <a:solidFill>
                  <a:srgbClr val="173F36"/>
                </a:solidFill>
              </a:defRPr>
            </a:lvl8pPr>
            <a:lvl9pPr>
              <a:defRPr sz="1725" b="1">
                <a:solidFill>
                  <a:srgbClr val="173F36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3F36"/>
                </a:solidFill>
              </a:defRPr>
            </a:pPr>
            <a:r>
              <a:rPr sz="1725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Database unavailable → readiness 503, liveness 200.</a:t>
            </a:r>
          </a:p>
          <a:p xmlns:a="http://schemas.openxmlformats.org/drawingml/2006/main">
            <a:pPr>
              <a:defRPr sz="1725" b="1">
                <a:solidFill>
                  <a:srgbClr val="173F36"/>
                </a:solidFill>
              </a:defRPr>
            </a:pPr>
            <a:r>
              <a:rPr sz="1725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The same readiness endpoint is used by the load balancer.</a:t>
            </a:r>
          </a:p>
        </p:txBody>
      </p:sp>
    </p:spTree>
    <p:extLst>
      <p:ext uri="{BB962C8B-B14F-4D97-AF65-F5344CB8AC3E}">
        <p14:creationId xmlns:p14="http://schemas.microsoft.com/office/powerpoint/2010/main" val="18003396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2026-10-26T02:38:54.7710000Z</dcterms:created>
  <dcterms:modified xsi:type="dcterms:W3CDTF">2026-10-26T02:38:54.7710000Z</dcterms:modified>
</coreProperties>
</file>